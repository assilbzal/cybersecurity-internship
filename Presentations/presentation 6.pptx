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80"/>
    <p:restoredTop sz="94650"/>
  </p:normalViewPr>
  <p:slideViewPr>
    <p:cSldViewPr snapToGrid="0">
      <p:cViewPr varScale="1">
        <p:scale>
          <a:sx n="157" d="100"/>
          <a:sy n="157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9B659-9169-64AB-4713-AFA6C4BD6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36AC81-CDE7-6552-AB4B-CCF371E16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C0FB6-A50F-F28F-503A-7C9844B8E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6B4A-3273-9442-90F0-53A317DA86F7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1E13F-528B-D48F-970C-882751211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BBEB9-5B0E-F19F-CCD2-66FBF51D7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334B-54C1-0F49-BAC1-AB05C9D71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18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E567B-FA90-C602-EDE4-A0CF426E9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A79B8-B432-7B7D-777B-D9BA1A1AA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F7425-5D57-5163-F105-475D69D56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6B4A-3273-9442-90F0-53A317DA86F7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1A0DD-0B00-6A82-748E-9F705D0DC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B993C-79CB-C86C-6421-A9F0516BA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334B-54C1-0F49-BAC1-AB05C9D71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47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8CAB0-91EE-950F-58CA-A40E30A6B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5DF76-12E3-F7B7-4319-8A9FFB070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01B8D-F97F-D520-676E-0696B3950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6B4A-3273-9442-90F0-53A317DA86F7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631FF-9B36-384E-3E2B-2CCDC1B38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D3E58-FD14-D3EA-51F2-1EF22218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334B-54C1-0F49-BAC1-AB05C9D71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0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5B25A-56F3-35AF-5E0A-CE149DCE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8415A-AB89-04EC-8263-F65608EB5A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BB11E-6463-1045-ED72-381516E9B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CFEC9-0B88-634F-FC14-CA062845D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6B4A-3273-9442-90F0-53A317DA86F7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DDBE8-33F4-E70D-98EC-353DCD4ED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4BC9F-06E6-5B55-C362-ECDD23C40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334B-54C1-0F49-BAC1-AB05C9D71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64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366EA-77C8-DBD2-FC26-6124D6A57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73431-1EEA-7D99-355B-54BAB02C4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77817-F57D-4903-DF44-3857FABDF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8AF3BD-58C0-1C5E-9DB6-A24F30A11F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9FECC-1B64-F5EF-B52B-162B35B392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31A3F7-C73C-B57C-6FD8-2D99CC98A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6B4A-3273-9442-90F0-53A317DA86F7}" type="datetimeFigureOut">
              <a:rPr lang="en-US" smtClean="0"/>
              <a:t>9/28/25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1AB0C4-446C-3681-831F-B1C169BCD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8546BC-DF08-90ED-ADDD-6581A3E32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334B-54C1-0F49-BAC1-AB05C9D71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3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F1A2-FB13-5E8D-22D2-3710FD0FF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C6BD8-9174-2288-3A77-BCDCFD841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6B4A-3273-9442-90F0-53A317DA86F7}" type="datetimeFigureOut">
              <a:rPr lang="en-US" smtClean="0"/>
              <a:t>9/28/25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9DA3A4-F00C-220B-AA59-95A94BA92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B57FF-D3CB-755B-2917-258359FA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334B-54C1-0F49-BAC1-AB05C9D71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4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CBA7B9-D2E9-E0CE-3534-3892280D1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6B4A-3273-9442-90F0-53A317DA86F7}" type="datetimeFigureOut">
              <a:rPr lang="en-US" smtClean="0"/>
              <a:t>9/28/25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022D8D-03A1-D20F-482F-8FF16891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CDD9F-B6AB-B212-5D0F-9316E6B9D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334B-54C1-0F49-BAC1-AB05C9D71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470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D7809-5433-D788-8A9B-4B0C75427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84844-8ECA-0C08-8BAE-3EDAD6DCD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8F67D-651C-A43F-82AC-11AFFB6F6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B4766-8245-8C87-B68F-84896E198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6B4A-3273-9442-90F0-53A317DA86F7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76A01-57E2-6224-C543-D8E392AEA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D3C2D-EB53-02C7-E1B4-DB9B5F5A3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334B-54C1-0F49-BAC1-AB05C9D71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1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27A64-EFB7-1F08-FDAE-60FAF856A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06CF92-953E-E00D-4FCA-863005D5E3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2C5FE-6BBF-7297-53A0-39D830BBA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04763-02C7-4F06-0D72-D2B214697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6B4A-3273-9442-90F0-53A317DA86F7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37F444-77F0-127C-C7C0-B3497355D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8850E-DB45-A340-6510-72E35571D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334B-54C1-0F49-BAC1-AB05C9D71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638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56995-35C6-BB25-4D58-0EEF51EAC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952A3-3801-BD9A-ECBC-09075CECD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C0E85-F5D6-18C8-1C25-85D7B9F55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6B4A-3273-9442-90F0-53A317DA86F7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DC7B5-6675-6303-40CA-23C3AA8FE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EB3F0-D6C3-802B-6A3A-3B8A45E42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334B-54C1-0F49-BAC1-AB05C9D71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56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BCF31A-26E5-F643-116D-22097102AA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FD556A-D80E-A5A6-D140-8AABE6EC4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E5CFC-FB0A-2B98-D134-85BA6DE5A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6B4A-3273-9442-90F0-53A317DA86F7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E2DE5-341D-6EC4-924A-6BF68CC57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70E49-6F9B-C058-D7AA-ED10007ED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D334B-54C1-0F49-BAC1-AB05C9D71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539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A1E3D7-F991-4C21-6AE2-DA6D5878E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78F22-7A11-43ED-AC49-6C182E61F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D70E8-A0FC-2AD9-50A3-C0B3181A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496B4A-3273-9442-90F0-53A317DA86F7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50AC0-401C-3AB2-D703-14450736C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73848-D3F7-C6CF-A93C-AAA69803D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1D334B-54C1-0F49-BAC1-AB05C9D71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324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sourceforge.net/projects/plantuml/files/plantuml.jar/download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sourceforge.net/projects/plantuml/files/plantuml.jar/download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3F9A502-E092-6D01-36AE-F8056C67F4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Cybersecurity internship</a:t>
            </a:r>
          </a:p>
          <a:p>
            <a:r>
              <a:rPr lang="en-US" dirty="0"/>
              <a:t>Week 7/8– presentation 6</a:t>
            </a:r>
          </a:p>
          <a:p>
            <a:r>
              <a:rPr lang="en-US" dirty="0"/>
              <a:t>Intern: Assil </a:t>
            </a:r>
            <a:r>
              <a:rPr lang="en-US" dirty="0" err="1"/>
              <a:t>Bzal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A logo for a security company&#10;&#10;AI-generated content may be incorrect.">
            <a:extLst>
              <a:ext uri="{FF2B5EF4-FFF2-40B4-BE49-F238E27FC236}">
                <a16:creationId xmlns:a16="http://schemas.microsoft.com/office/drawing/2014/main" id="{7EA82019-4EB3-919F-516D-B8D41781A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496" y="1600200"/>
            <a:ext cx="1817007" cy="181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600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18BA2-A9AD-6D18-6C51-907A0670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DCDC3-1F64-B1BD-B302-CE3B9A5B8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Threat modeling examples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Smart home assistants (Alexa)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Airplane in-flight entertainment system</a:t>
            </a:r>
          </a:p>
          <a:p>
            <a:r>
              <a:rPr lang="en-US" dirty="0"/>
              <a:t>PYTM : Python Threat Modeling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Features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Usage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Creating a threat model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Generating diagrams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Creating a report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Overrides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Threats Databases</a:t>
            </a:r>
          </a:p>
        </p:txBody>
      </p:sp>
    </p:spTree>
    <p:extLst>
      <p:ext uri="{BB962C8B-B14F-4D97-AF65-F5344CB8AC3E}">
        <p14:creationId xmlns:p14="http://schemas.microsoft.com/office/powerpoint/2010/main" val="495591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BC28C-A332-EEFC-15FC-08D045F19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Smart home assistant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2441B-B3A4-19D2-EB0D-A505BD80F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Tx/>
              <a:buChar char="-"/>
            </a:pPr>
            <a:r>
              <a:rPr lang="en-US" u="sng" dirty="0"/>
              <a:t>Assets:</a:t>
            </a:r>
          </a:p>
          <a:p>
            <a:pPr lvl="1"/>
            <a:r>
              <a:rPr lang="en-US" dirty="0"/>
              <a:t>Voice commands and transcripts</a:t>
            </a:r>
          </a:p>
          <a:p>
            <a:pPr lvl="1"/>
            <a:r>
              <a:rPr lang="en-US" dirty="0"/>
              <a:t>User profiles, schedules, routines</a:t>
            </a:r>
          </a:p>
          <a:p>
            <a:pPr lvl="1"/>
            <a:r>
              <a:rPr lang="en-US" dirty="0"/>
              <a:t>Connected device control (locks, lights)</a:t>
            </a:r>
          </a:p>
          <a:p>
            <a:pPr lvl="1"/>
            <a:r>
              <a:rPr lang="en-US" dirty="0"/>
              <a:t>Network access token 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u="sng" dirty="0"/>
              <a:t>Entry points:</a:t>
            </a:r>
          </a:p>
          <a:p>
            <a:pPr lvl="1"/>
            <a:r>
              <a:rPr lang="en-US" dirty="0"/>
              <a:t>Microphone (voice input)</a:t>
            </a:r>
          </a:p>
          <a:p>
            <a:pPr lvl="1"/>
            <a:r>
              <a:rPr lang="en-US" dirty="0"/>
              <a:t>Cloud API / voice service</a:t>
            </a:r>
          </a:p>
          <a:p>
            <a:pPr lvl="1"/>
            <a:r>
              <a:rPr lang="en-US" dirty="0"/>
              <a:t>Local network (Wi-Fi)</a:t>
            </a:r>
          </a:p>
          <a:p>
            <a:pPr lvl="1"/>
            <a:r>
              <a:rPr lang="en-US" dirty="0"/>
              <a:t>Companion mobile app / skill integrations</a:t>
            </a:r>
          </a:p>
          <a:p>
            <a:pPr lvl="1"/>
            <a:r>
              <a:rPr lang="en-US" dirty="0"/>
              <a:t>Bluetooth / smart home bridges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u="sng" dirty="0"/>
              <a:t>Likely attackers:</a:t>
            </a:r>
          </a:p>
          <a:p>
            <a:pPr lvl="1"/>
            <a:r>
              <a:rPr lang="en-US" dirty="0"/>
              <a:t>Neighbor, casual thief, nation state (less likely), malicious skill developer, local network attacker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823334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74843-9C07-8869-364C-D52D0A1AC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Smart home assistant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B7731-D88F-3472-36D6-DE42FD0B0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Tx/>
              <a:buChar char="-"/>
            </a:pPr>
            <a:r>
              <a:rPr lang="en-US" u="sng" dirty="0"/>
              <a:t>Top threats:</a:t>
            </a:r>
          </a:p>
          <a:p>
            <a:pPr lvl="1"/>
            <a:r>
              <a:rPr lang="en-US" dirty="0"/>
              <a:t>Unauthorized device control (compromise voice or cloud token) : High</a:t>
            </a:r>
          </a:p>
          <a:p>
            <a:pPr lvl="1"/>
            <a:r>
              <a:rPr lang="en-US" dirty="0"/>
              <a:t>Eavesdropping / voice data leakage (sensitive conversations) :High</a:t>
            </a:r>
          </a:p>
          <a:p>
            <a:pPr lvl="1"/>
            <a:r>
              <a:rPr lang="en-US" dirty="0"/>
              <a:t>Malicious third-party skill abusing permissions : Medium</a:t>
            </a:r>
          </a:p>
          <a:p>
            <a:pPr lvl="1"/>
            <a:r>
              <a:rPr lang="en-US" dirty="0"/>
              <a:t>Replay or injection of voice commands (playback attacks) : Medium</a:t>
            </a:r>
          </a:p>
          <a:p>
            <a:pPr lvl="1"/>
            <a:r>
              <a:rPr lang="en-US" dirty="0"/>
              <a:t>Lateral movement from companion app to other home devices : High</a:t>
            </a:r>
          </a:p>
          <a:p>
            <a:pPr marL="0" indent="0">
              <a:buNone/>
            </a:pPr>
            <a:r>
              <a:rPr lang="en-US" u="sng" dirty="0"/>
              <a:t>- Quick mitigations:</a:t>
            </a:r>
          </a:p>
          <a:p>
            <a:pPr lvl="1"/>
            <a:r>
              <a:rPr lang="en-US" dirty="0"/>
              <a:t>Strong authentication for companion app.</a:t>
            </a:r>
          </a:p>
          <a:p>
            <a:pPr lvl="1"/>
            <a:r>
              <a:rPr lang="en-US" dirty="0"/>
              <a:t>Encrypt data in transit and at rest..</a:t>
            </a:r>
          </a:p>
          <a:p>
            <a:pPr lvl="1"/>
            <a:r>
              <a:rPr lang="en-US" dirty="0"/>
              <a:t>Require voice confirmation for critical actions (unlock, disarm).</a:t>
            </a:r>
          </a:p>
          <a:p>
            <a:pPr lvl="1"/>
            <a:r>
              <a:rPr lang="en-US" dirty="0"/>
              <a:t>Rate-limit and anomaly detection for unusual commands.</a:t>
            </a:r>
          </a:p>
          <a:p>
            <a:pPr lvl="1"/>
            <a:r>
              <a:rPr lang="en-US" dirty="0"/>
              <a:t>Network segmentation (IoT VLAN) and disable unused interfaces.</a:t>
            </a:r>
          </a:p>
          <a:p>
            <a:pPr lvl="1"/>
            <a:endParaRPr lang="en-US" u="sng" dirty="0"/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398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00578-EF4B-7B1D-898C-44C87C80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D057C-4E9A-E975-1F06-C88BB9909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How it works </a:t>
            </a:r>
          </a:p>
          <a:p>
            <a:pPr lvl="1"/>
            <a:r>
              <a:rPr lang="en-US" dirty="0"/>
              <a:t>Local device with mic + speaker; does keyword detection locally, sends audio snippets to cloud for NLU; cloud services return intents; companion mobile app for user config; connects to smart-home devices via local hub or cloud integrations.</a:t>
            </a:r>
          </a:p>
          <a:p>
            <a:pPr marL="0" indent="0">
              <a:buNone/>
            </a:pPr>
            <a:r>
              <a:rPr lang="en-US" b="1" dirty="0"/>
              <a:t>Every service consumed</a:t>
            </a:r>
            <a:endParaRPr lang="en-US" dirty="0"/>
          </a:p>
          <a:p>
            <a:pPr lvl="1"/>
            <a:r>
              <a:rPr lang="en-US" dirty="0"/>
              <a:t>STT/NLU cloud service, account/auth service (OAuth), device provisioning service, skill/third-party integration platform, cloud storage (logs/transcripts), analytics/telemetry, push notifications, OTA firmware update service.</a:t>
            </a:r>
          </a:p>
          <a:p>
            <a:pPr marL="0" indent="0">
              <a:buNone/>
            </a:pPr>
            <a:r>
              <a:rPr lang="en-US" b="1" dirty="0"/>
              <a:t>Assumptions about environment &amp; defaults</a:t>
            </a:r>
            <a:endParaRPr lang="en-US" dirty="0"/>
          </a:p>
          <a:p>
            <a:pPr lvl="1"/>
            <a:r>
              <a:rPr lang="en-US" dirty="0"/>
              <a:t>Home network reasonably secured (WPA2/3), companion app access controlled by user, device has secure boot/firmware signing, default wake-word limits accidental activation, skills vetted by platform.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758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2BD70-741B-8D29-4B64-940ABB0AE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03198-8B13-A6A4-BDE4-D89DB3633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Approach</a:t>
            </a:r>
            <a:r>
              <a:rPr lang="en-US" dirty="0"/>
              <a:t>: attacker-focused : think how an adversary would get persistent unauthorized control or eavesdrop. Also note protect-focused controls you’d implement.</a:t>
            </a:r>
          </a:p>
          <a:p>
            <a:r>
              <a:rPr lang="en-US" b="1" dirty="0"/>
              <a:t>STRIDE threats (top examples)</a:t>
            </a:r>
            <a:endParaRPr lang="en-US" dirty="0"/>
          </a:p>
          <a:p>
            <a:pPr lvl="1"/>
            <a:r>
              <a:rPr lang="en-US" b="1" dirty="0"/>
              <a:t>Spoofing</a:t>
            </a:r>
            <a:r>
              <a:rPr lang="en-US" dirty="0"/>
              <a:t>: fake cloud endpoints, stolen tokens.</a:t>
            </a:r>
          </a:p>
          <a:p>
            <a:pPr lvl="1"/>
            <a:r>
              <a:rPr lang="en-US" b="1" dirty="0"/>
              <a:t>Tampering</a:t>
            </a:r>
            <a:r>
              <a:rPr lang="en-US" dirty="0"/>
              <a:t>: malicious skill modifies routines.</a:t>
            </a:r>
          </a:p>
          <a:p>
            <a:pPr lvl="1"/>
            <a:r>
              <a:rPr lang="en-US" b="1" dirty="0"/>
              <a:t>Repudiation</a:t>
            </a:r>
            <a:r>
              <a:rPr lang="en-US" dirty="0"/>
              <a:t>: lack of logs for who issued critical commands.</a:t>
            </a:r>
          </a:p>
          <a:p>
            <a:pPr lvl="1"/>
            <a:r>
              <a:rPr lang="en-US" b="1" dirty="0"/>
              <a:t>Information Disclosure</a:t>
            </a:r>
            <a:r>
              <a:rPr lang="en-US" dirty="0"/>
              <a:t>: audio transcripts leaked, cloud backups exposed.</a:t>
            </a:r>
          </a:p>
          <a:p>
            <a:pPr lvl="1"/>
            <a:r>
              <a:rPr lang="en-US" b="1" dirty="0"/>
              <a:t>Denial of Service</a:t>
            </a:r>
            <a:r>
              <a:rPr lang="en-US" dirty="0"/>
              <a:t>: overload voice service/kill skill.</a:t>
            </a:r>
          </a:p>
          <a:p>
            <a:pPr lvl="1"/>
            <a:r>
              <a:rPr lang="en-US" b="1" dirty="0"/>
              <a:t>Elevation of Privilege</a:t>
            </a:r>
            <a:r>
              <a:rPr lang="en-US" dirty="0"/>
              <a:t>: skill gains more permissions than intended.</a:t>
            </a:r>
          </a:p>
        </p:txBody>
      </p:sp>
    </p:spTree>
    <p:extLst>
      <p:ext uri="{BB962C8B-B14F-4D97-AF65-F5344CB8AC3E}">
        <p14:creationId xmlns:p14="http://schemas.microsoft.com/office/powerpoint/2010/main" val="2196866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BEA8-2AC9-823A-042A-7C1CDCB54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8C4D7-8955-85C9-A156-59E5CB1E9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Map threats → components/interactions</a:t>
            </a:r>
            <a:endParaRPr lang="en-US" dirty="0"/>
          </a:p>
          <a:p>
            <a:pPr lvl="1"/>
            <a:r>
              <a:rPr lang="en-US" dirty="0"/>
              <a:t>Token theft → companion app.</a:t>
            </a:r>
          </a:p>
          <a:p>
            <a:pPr lvl="1"/>
            <a:r>
              <a:rPr lang="en-US" dirty="0"/>
              <a:t>Malicious skill → skill platform + device intent parser.</a:t>
            </a:r>
          </a:p>
          <a:p>
            <a:pPr lvl="1"/>
            <a:r>
              <a:rPr lang="en-US" dirty="0"/>
              <a:t>Eavesdropping → mic → audio preprocessing → cloud storage.</a:t>
            </a:r>
          </a:p>
          <a:p>
            <a:r>
              <a:rPr lang="en-US" b="1" dirty="0"/>
              <a:t>Prioritize (risk)</a:t>
            </a:r>
            <a:endParaRPr lang="en-US" dirty="0"/>
          </a:p>
          <a:p>
            <a:pPr lvl="1"/>
            <a:r>
              <a:rPr lang="en-US" dirty="0"/>
              <a:t>Unauthorized device control: High impact × Medium likelihood → </a:t>
            </a:r>
            <a:r>
              <a:rPr lang="en-US" b="1" dirty="0"/>
              <a:t>High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Eavesdropping of private audio: High × Medium → </a:t>
            </a:r>
            <a:r>
              <a:rPr lang="en-US" b="1" dirty="0"/>
              <a:t>High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Malicious skill abuse: Medium × High → </a:t>
            </a:r>
            <a:r>
              <a:rPr lang="en-US" b="1" dirty="0"/>
              <a:t>High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DoS of voice service: Medium × Medium → </a:t>
            </a:r>
            <a:r>
              <a:rPr lang="en-US" b="1" dirty="0"/>
              <a:t>Medium</a:t>
            </a:r>
            <a:r>
              <a:rPr lang="en-US" dirty="0"/>
              <a:t>.</a:t>
            </a:r>
          </a:p>
          <a:p>
            <a:r>
              <a:rPr lang="en-US" b="1" dirty="0"/>
              <a:t>Threat library entries (example)</a:t>
            </a:r>
            <a:endParaRPr lang="en-US" dirty="0"/>
          </a:p>
          <a:p>
            <a:pPr lvl="1"/>
            <a:r>
              <a:rPr lang="en-US" dirty="0"/>
              <a:t>ID: SHA-001 : Unauthorized unlock via voice replay. Assets: door lock. Controls: voice-auth confirmation + challenge-response + rate limiting. Residual: require manual unlock after N attempts.</a:t>
            </a:r>
          </a:p>
          <a:p>
            <a:pPr lvl="1"/>
            <a:r>
              <a:rPr lang="en-US" dirty="0"/>
              <a:t>ID: SH-002 : Token theft of mobile app. Controls: mutual TLS, short-lived tokens, device bind, MFA for sensitive ops.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48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B97B8-9537-5254-564F-421C3F126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53AA8-26EE-6F9F-C07E-BBE1468ED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Validate/accept threats with rationale</a:t>
            </a:r>
            <a:endParaRPr lang="en-US" dirty="0"/>
          </a:p>
          <a:p>
            <a:pPr lvl="1"/>
            <a:r>
              <a:rPr lang="en-US" dirty="0"/>
              <a:t>Confirm high-risk controls (voice confirmation, token expiry) are in place; accept residual risk for rare physical replay if user chooses convenience.</a:t>
            </a:r>
          </a:p>
          <a:p>
            <a:r>
              <a:rPr lang="en-US" b="1" dirty="0"/>
              <a:t>Confirm mitigations practical</a:t>
            </a:r>
            <a:endParaRPr lang="en-US" dirty="0"/>
          </a:p>
          <a:p>
            <a:pPr lvl="1"/>
            <a:r>
              <a:rPr lang="en-US" dirty="0"/>
              <a:t>Test via red-team simulation (non-invasive), token replay tests, skill permission audits.</a:t>
            </a:r>
          </a:p>
          <a:p>
            <a:r>
              <a:rPr lang="en-US" b="1" dirty="0"/>
              <a:t>Update model as system evolves</a:t>
            </a:r>
            <a:endParaRPr lang="en-US" dirty="0"/>
          </a:p>
          <a:p>
            <a:pPr lvl="1"/>
            <a:r>
              <a:rPr lang="en-US" dirty="0"/>
              <a:t>Re-run after new integrations, firmware changes, or addition of third-party skills.</a:t>
            </a:r>
          </a:p>
        </p:txBody>
      </p:sp>
    </p:spTree>
    <p:extLst>
      <p:ext uri="{BB962C8B-B14F-4D97-AF65-F5344CB8AC3E}">
        <p14:creationId xmlns:p14="http://schemas.microsoft.com/office/powerpoint/2010/main" val="2030127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69935-6ABB-1AB9-4500-0B9DB3E7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2.Airplane in flight entertainment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C337F-2A0C-A929-D3AB-A77B77093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u="sng" dirty="0"/>
              <a:t>Assets: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Passenger PII/payment data (if purchasing)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IFE software / media content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Aircraft avionics interface (if incorrectly connected)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Inflight network infrastructure</a:t>
            </a:r>
          </a:p>
          <a:p>
            <a:r>
              <a:rPr lang="en-US" u="sng" dirty="0"/>
              <a:t>Entry points: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Passenger device USB / HDMI / Bluetooth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Cabin Wi-Fi and passenger interfaces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Maintenance port / onboard service access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Content delivery system / ground sync</a:t>
            </a:r>
          </a:p>
          <a:p>
            <a:r>
              <a:rPr lang="en-US" u="sng" dirty="0"/>
              <a:t>Likely attackers: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Malicious passenger, insider (maintenance crew), organized criminals, nation state (targeting avionics via bridging)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743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CF5CF-A0B9-BA26-033D-F59C7C10F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2.Airplane in flight entertainment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9AA55-E808-D830-2136-4674887EB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u="sng" dirty="0"/>
              <a:t>Top threats: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Lateral movement to critical avionics via misconfigured bridges : High (severe)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Theft of payment/PII via compromised purchase system : High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Malware via USB/OTG or infected content : Medium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Denial of service disrupting entertainment or passenger comms : Medium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Unauthorized content injection (piracy, propaganda) : Low</a:t>
            </a:r>
          </a:p>
          <a:p>
            <a:r>
              <a:rPr lang="en-US" u="sng" dirty="0"/>
              <a:t>Quick mitigations: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Strict network segmentation: IFE isolated from avionics with hardware enforced separation.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Harden USB/media interfaces; disable write access; scan media.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Encrypted payment flows; PCI compliance.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Harden maintenance access with MDM, logging, multi-party authentication.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Regular patching and supply chain validation for content servers.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983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0166F-835D-C353-D4FD-13114CDC2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59545-982A-7B54-5923-9E2167063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How it works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IFE hardware in cabin; media server(s) on aircraft; passenger devices connect via cabin Wi-Fi; payments handled via PCI-capable gateway; maintenance access for content sync/updates via secure ground link or maintenance port.</a:t>
            </a:r>
          </a:p>
          <a:p>
            <a:r>
              <a:rPr lang="en-US" b="1" dirty="0"/>
              <a:t>Services consumed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Content distribution/DRM service, passenger wi-fi ISP gateway, payment processor, maintenance provisioning service, logging/telemetry to airline backend.</a:t>
            </a:r>
          </a:p>
          <a:p>
            <a:r>
              <a:rPr lang="en-US" b="1" dirty="0"/>
              <a:t>Assumptions &amp; defaults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Physical and logical segregation between IFE and avionics; maintenance ports disabled or authenticated; IFE runs hardened OS; avionics network is air-gapped.</a:t>
            </a:r>
          </a:p>
        </p:txBody>
      </p:sp>
    </p:spTree>
    <p:extLst>
      <p:ext uri="{BB962C8B-B14F-4D97-AF65-F5344CB8AC3E}">
        <p14:creationId xmlns:p14="http://schemas.microsoft.com/office/powerpoint/2010/main" val="3419927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AFB1-F4FE-DB76-F58F-A8F124DA3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33388-7E08-3776-28A6-B0184DBD7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Approach</a:t>
            </a:r>
            <a:r>
              <a:rPr lang="en-US" dirty="0"/>
              <a:t>: protect-first for safety (isolate avionics) + attacker-focused to find bridging vectors.</a:t>
            </a:r>
          </a:p>
          <a:p>
            <a:r>
              <a:rPr lang="en-US" b="1" dirty="0"/>
              <a:t>STRIDE threats</a:t>
            </a:r>
            <a:endParaRPr lang="en-US" dirty="0"/>
          </a:p>
          <a:p>
            <a:pPr lvl="1"/>
            <a:r>
              <a:rPr lang="en-US" b="1" dirty="0"/>
              <a:t>Spoofing</a:t>
            </a:r>
            <a:r>
              <a:rPr lang="en-US" dirty="0"/>
              <a:t>: fake maintenance console or update server.</a:t>
            </a:r>
          </a:p>
          <a:p>
            <a:pPr lvl="1"/>
            <a:r>
              <a:rPr lang="en-US" b="1" dirty="0"/>
              <a:t>Tampering</a:t>
            </a:r>
            <a:r>
              <a:rPr lang="en-US" dirty="0"/>
              <a:t>: malware in content update; USB-borne malware.</a:t>
            </a:r>
          </a:p>
          <a:p>
            <a:pPr lvl="1"/>
            <a:r>
              <a:rPr lang="en-US" b="1" dirty="0"/>
              <a:t>Repudiation</a:t>
            </a:r>
            <a:r>
              <a:rPr lang="en-US" dirty="0"/>
              <a:t>: insufficient logging of maintenance actions.</a:t>
            </a:r>
          </a:p>
          <a:p>
            <a:pPr lvl="1"/>
            <a:r>
              <a:rPr lang="en-US" b="1" dirty="0"/>
              <a:t>Info Disclosure</a:t>
            </a:r>
            <a:r>
              <a:rPr lang="en-US" dirty="0"/>
              <a:t>: passenger payment data leakage.</a:t>
            </a:r>
          </a:p>
          <a:p>
            <a:pPr lvl="1"/>
            <a:r>
              <a:rPr lang="en-US" b="1" dirty="0"/>
              <a:t>DoS</a:t>
            </a:r>
            <a:r>
              <a:rPr lang="en-US" dirty="0"/>
              <a:t>: overload IFE or cabin Wi-Fi affecting passenger comms.</a:t>
            </a:r>
          </a:p>
          <a:p>
            <a:pPr lvl="1"/>
            <a:r>
              <a:rPr lang="en-US" b="1" dirty="0"/>
              <a:t>Elevation</a:t>
            </a:r>
            <a:r>
              <a:rPr lang="en-US" dirty="0"/>
              <a:t>: IFE gaining access to aircraft network via misconfiguration.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366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73F0-05F9-C58C-5D48-A3B8E5AD0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FC117-2886-C748-3773-F91A070A0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Map threats → components</a:t>
            </a:r>
            <a:endParaRPr lang="en-US" dirty="0"/>
          </a:p>
          <a:p>
            <a:pPr lvl="1"/>
            <a:r>
              <a:rPr lang="en-US" dirty="0"/>
              <a:t>Malicious update → content update service &amp; maintenance link.</a:t>
            </a:r>
          </a:p>
          <a:p>
            <a:pPr lvl="1"/>
            <a:r>
              <a:rPr lang="en-US" dirty="0"/>
              <a:t>Payment data theft → IFE payment module → airline backend.</a:t>
            </a:r>
          </a:p>
          <a:p>
            <a:r>
              <a:rPr lang="en-US" b="1" dirty="0"/>
              <a:t>Prioritize threats</a:t>
            </a:r>
            <a:endParaRPr lang="en-US" dirty="0"/>
          </a:p>
          <a:p>
            <a:pPr lvl="1"/>
            <a:r>
              <a:rPr lang="en-US" dirty="0"/>
              <a:t>Avionics bridging (tampering/elevation): </a:t>
            </a:r>
            <a:r>
              <a:rPr lang="en-US" b="1" dirty="0"/>
              <a:t>Critical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Payment/PII theft: </a:t>
            </a:r>
            <a:r>
              <a:rPr lang="en-US" b="1" dirty="0"/>
              <a:t>High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USB/guest-supplied malware: </a:t>
            </a:r>
            <a:r>
              <a:rPr lang="en-US" b="1" dirty="0"/>
              <a:t>Medium</a:t>
            </a:r>
            <a:r>
              <a:rPr lang="en-US" dirty="0"/>
              <a:t>.</a:t>
            </a:r>
          </a:p>
          <a:p>
            <a:r>
              <a:rPr lang="en-US" b="1" dirty="0"/>
              <a:t>Threat library snippets</a:t>
            </a:r>
            <a:endParaRPr lang="en-US" dirty="0"/>
          </a:p>
          <a:p>
            <a:pPr lvl="1"/>
            <a:r>
              <a:rPr lang="en-US" dirty="0"/>
              <a:t>ID: IFE-AV-001 :  Cross-network escalation to avionics. Controls: hardware firewall, one-way data diodes, separate physical NICs, enforce no shared storage.</a:t>
            </a:r>
          </a:p>
          <a:p>
            <a:pPr lvl="1"/>
            <a:r>
              <a:rPr lang="en-US" dirty="0"/>
              <a:t>ID: IFE-PAY-002 : Payment data exposure. Controls: PCI DSS, tokenization, encrypted in-transit &amp; at-rest.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12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DA4E3-C774-9925-8B2C-A7E859968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73977-7C77-5624-DB20-5C1FE1B45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Validate</a:t>
            </a:r>
            <a:endParaRPr lang="en-US" dirty="0"/>
          </a:p>
          <a:p>
            <a:pPr lvl="1"/>
            <a:r>
              <a:rPr lang="en-US" dirty="0"/>
              <a:t>Penetration test focusing on IFE ↔ avionics separation (but coordinated, non-destructive). Confirm signed updates and content validation.</a:t>
            </a:r>
          </a:p>
          <a:p>
            <a:r>
              <a:rPr lang="en-US" b="1" dirty="0"/>
              <a:t>Confirm practicality</a:t>
            </a:r>
            <a:endParaRPr lang="en-US" dirty="0"/>
          </a:p>
          <a:p>
            <a:pPr lvl="1"/>
            <a:r>
              <a:rPr lang="en-US" dirty="0"/>
              <a:t>Verify that hardware separation and data diode are implementable within aircraft weight/space constraints.</a:t>
            </a:r>
          </a:p>
          <a:p>
            <a:r>
              <a:rPr lang="en-US" b="1" dirty="0"/>
              <a:t>Update model</a:t>
            </a:r>
            <a:endParaRPr lang="en-US" dirty="0"/>
          </a:p>
          <a:p>
            <a:pPr lvl="1"/>
            <a:r>
              <a:rPr lang="en-US" dirty="0"/>
              <a:t>After any maintenance-access change, third-party vendor update, or cabin Wi-Fi ISP change.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238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ilhouette Male Icon SVG Vector &amp; PNG Free Download | UXWing">
            <a:extLst>
              <a:ext uri="{FF2B5EF4-FFF2-40B4-BE49-F238E27FC236}">
                <a16:creationId xmlns:a16="http://schemas.microsoft.com/office/drawing/2014/main" id="{D6B5E700-4AAF-1E31-4F04-E68081B30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292" y="2208617"/>
            <a:ext cx="3559415" cy="3543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Callout 4">
            <a:extLst>
              <a:ext uri="{FF2B5EF4-FFF2-40B4-BE49-F238E27FC236}">
                <a16:creationId xmlns:a16="http://schemas.microsoft.com/office/drawing/2014/main" id="{8593E868-B2C6-A031-E5EE-5572B25C6155}"/>
              </a:ext>
            </a:extLst>
          </p:cNvPr>
          <p:cNvSpPr/>
          <p:nvPr/>
        </p:nvSpPr>
        <p:spPr>
          <a:xfrm>
            <a:off x="6453963" y="797442"/>
            <a:ext cx="3009014" cy="1828800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 is the traditional way of threat modeling the best way to do what’s needed?</a:t>
            </a:r>
          </a:p>
        </p:txBody>
      </p:sp>
    </p:spTree>
    <p:extLst>
      <p:ext uri="{BB962C8B-B14F-4D97-AF65-F5344CB8AC3E}">
        <p14:creationId xmlns:p14="http://schemas.microsoft.com/office/powerpoint/2010/main" val="1854090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8453D-374D-7F6E-2A1D-6E0D1C84E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PYTM : python threat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9B1D4-CB22-50AB-2A9B-4BCAB14B0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why PYTM was created </a:t>
            </a:r>
          </a:p>
          <a:p>
            <a:r>
              <a:rPr lang="en-US" dirty="0"/>
              <a:t>Traditional threat modeling too often comes late to the party, or sometimes not at all. In addition, creating manual data flows and reports can be extremely time-consuming. The goal of </a:t>
            </a:r>
            <a:r>
              <a:rPr lang="en-US" dirty="0" err="1"/>
              <a:t>pytm</a:t>
            </a:r>
            <a:r>
              <a:rPr lang="en-US" dirty="0"/>
              <a:t> is to shift threat modeling to the left, making threat modeling more automated and developer-centric.</a:t>
            </a:r>
          </a:p>
        </p:txBody>
      </p:sp>
    </p:spTree>
    <p:extLst>
      <p:ext uri="{BB962C8B-B14F-4D97-AF65-F5344CB8AC3E}">
        <p14:creationId xmlns:p14="http://schemas.microsoft.com/office/powerpoint/2010/main" val="854782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E3B38-4E74-4EAC-5822-6FE8EF820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PYTM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A8904-C5F7-0FFE-46F2-8E2B97206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Based on your input and definition of the architectural design, </a:t>
            </a:r>
            <a:r>
              <a:rPr lang="en-US" dirty="0" err="1"/>
              <a:t>pytm</a:t>
            </a:r>
            <a:r>
              <a:rPr lang="en-US" dirty="0"/>
              <a:t> can automatically generate the following items: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Data Flow Diagram (DFD)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Sequence Diagram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Relevant threats to your system</a:t>
            </a:r>
          </a:p>
          <a:p>
            <a:r>
              <a:rPr lang="en-US" b="1" dirty="0"/>
              <a:t>Requirements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Linux/MacOS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Python 3.x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Graphviz</a:t>
            </a:r>
            <a:r>
              <a:rPr lang="en-US" dirty="0"/>
              <a:t> package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Java (OpenJDK 10 or 11)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u="sng" dirty="0">
                <a:hlinkClick r:id="rId2"/>
              </a:rPr>
              <a:t>plantuml.jar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446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B3F18-C7FC-5D13-5FF6-4A1797F5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u="sng" dirty="0">
                <a:hlinkClick r:id="rId2"/>
              </a:rPr>
              <a:t>plantuml.jar</a:t>
            </a:r>
            <a:r>
              <a:rPr lang="en-US" u="sng" dirty="0"/>
              <a:t> 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58B1E-ACD2-8125-DF13-EC0E5081B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file </a:t>
            </a:r>
            <a:r>
              <a:rPr lang="en-US" b="1" dirty="0" err="1"/>
              <a:t>plantuml.jar</a:t>
            </a:r>
            <a:r>
              <a:rPr lang="en-US" dirty="0"/>
              <a:t> is the executable </a:t>
            </a:r>
            <a:r>
              <a:rPr lang="en-US" b="1" dirty="0"/>
              <a:t>Java archive</a:t>
            </a:r>
            <a:r>
              <a:rPr lang="en-US" dirty="0"/>
              <a:t> for </a:t>
            </a:r>
            <a:r>
              <a:rPr lang="en-US" dirty="0" err="1"/>
              <a:t>PlantUML</a:t>
            </a:r>
            <a:r>
              <a:rPr lang="en-US" dirty="0"/>
              <a:t>, a tool that generates UML (Unified Modeling Language) and other diagrams from plain text descriptions.</a:t>
            </a:r>
          </a:p>
          <a:p>
            <a:r>
              <a:rPr lang="en-US" dirty="0"/>
              <a:t>Here’s what it’s used for:</a:t>
            </a:r>
          </a:p>
          <a:p>
            <a:r>
              <a:rPr lang="en-US" b="1" dirty="0"/>
              <a:t>Diagram Generation</a:t>
            </a:r>
            <a:br>
              <a:rPr lang="en-US" dirty="0"/>
            </a:br>
            <a:r>
              <a:rPr lang="en-US" dirty="0"/>
              <a:t>It takes a simple text-based syntax (written in .</a:t>
            </a:r>
            <a:r>
              <a:rPr lang="en-US" dirty="0" err="1"/>
              <a:t>puml</a:t>
            </a:r>
            <a:r>
              <a:rPr lang="en-US" dirty="0"/>
              <a:t> or .</a:t>
            </a:r>
            <a:r>
              <a:rPr lang="en-US" dirty="0" err="1"/>
              <a:t>plantuml</a:t>
            </a:r>
            <a:r>
              <a:rPr lang="en-US" dirty="0"/>
              <a:t> files) and converts it into diagrams such as:</a:t>
            </a:r>
          </a:p>
          <a:p>
            <a:pPr lvl="1"/>
            <a:r>
              <a:rPr lang="en-US" dirty="0"/>
              <a:t>Class diagrams</a:t>
            </a:r>
          </a:p>
          <a:p>
            <a:pPr lvl="1"/>
            <a:r>
              <a:rPr lang="en-US" dirty="0"/>
              <a:t>Sequence diagrams</a:t>
            </a:r>
          </a:p>
          <a:p>
            <a:pPr lvl="1"/>
            <a:r>
              <a:rPr lang="en-US" dirty="0"/>
              <a:t>Activity diagrams</a:t>
            </a:r>
          </a:p>
          <a:p>
            <a:pPr lvl="1"/>
            <a:r>
              <a:rPr lang="en-US" dirty="0"/>
              <a:t>Use case diagrams</a:t>
            </a:r>
          </a:p>
          <a:p>
            <a:pPr lvl="1"/>
            <a:r>
              <a:rPr lang="en-US" dirty="0"/>
              <a:t>State diagrams</a:t>
            </a:r>
          </a:p>
          <a:p>
            <a:pPr lvl="1"/>
            <a:r>
              <a:rPr lang="en-US" dirty="0"/>
              <a:t>Component &amp; deployment diagrams</a:t>
            </a:r>
          </a:p>
          <a:p>
            <a:pPr lvl="1"/>
            <a:r>
              <a:rPr lang="en-US" dirty="0"/>
              <a:t>Gantt charts, mind maps, wireframes, etc.</a:t>
            </a:r>
          </a:p>
          <a:p>
            <a:r>
              <a:rPr lang="en-US" b="1" dirty="0"/>
              <a:t>Automation &amp; Integration</a:t>
            </a:r>
            <a:br>
              <a:rPr lang="en-US" dirty="0"/>
            </a:br>
            <a:r>
              <a:rPr lang="en-US" dirty="0"/>
              <a:t>Since it’s a .jar file, you run it with Java (java -jar </a:t>
            </a:r>
            <a:r>
              <a:rPr lang="en-US" dirty="0" err="1"/>
              <a:t>plantuml.jar</a:t>
            </a:r>
            <a:r>
              <a:rPr lang="en-US" dirty="0"/>
              <a:t>) and feed it text files. It then produces output images (e.g., PNG, SVG, EPS, PDF).</a:t>
            </a:r>
          </a:p>
        </p:txBody>
      </p:sp>
    </p:spTree>
    <p:extLst>
      <p:ext uri="{BB962C8B-B14F-4D97-AF65-F5344CB8AC3E}">
        <p14:creationId xmlns:p14="http://schemas.microsoft.com/office/powerpoint/2010/main" val="555151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328C6-A381-64EE-BCAB-64C4F4142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C3A00-6851-14EC-BF8C-E1FD5546D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available arguments: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246591F-D189-CB1F-A0EF-837591FF7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662" y="2324250"/>
            <a:ext cx="5704435" cy="416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109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687C5-E2A2-C46E-BD6E-76E8092B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00"/>
            <a:ext cx="10515600" cy="1325563"/>
          </a:xfrm>
        </p:spPr>
        <p:txBody>
          <a:bodyPr/>
          <a:lstStyle/>
          <a:p>
            <a:r>
              <a:rPr lang="en-US" dirty="0"/>
              <a:t>Creating a Threat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10C8-A900-8939-5B44-7B58EC5E1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8329"/>
            <a:ext cx="1051560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The following is a sample </a:t>
            </a:r>
            <a:r>
              <a:rPr lang="en-US" sz="1800" dirty="0" err="1"/>
              <a:t>tm.py</a:t>
            </a:r>
            <a:r>
              <a:rPr lang="en-US" sz="1800" dirty="0"/>
              <a:t> file that describes a simple application where a User logs into the application and posts comments on the app. The app server stores those comments into the database. There is an AWS Lambda that periodically cleans the Database.</a:t>
            </a: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E95F2A4-3CDE-E853-DDE6-E1E7FA281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82" y="1909970"/>
            <a:ext cx="3114342" cy="477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236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0CE6-6907-C876-9339-848C6BF9F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22D66-E96D-2514-B79E-A331672FD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 --</a:t>
            </a:r>
            <a:r>
              <a:rPr lang="en-US" dirty="0" err="1"/>
              <a:t>dfd</a:t>
            </a:r>
            <a:r>
              <a:rPr lang="en-US" dirty="0"/>
              <a:t> argument is passed to the above </a:t>
            </a:r>
            <a:r>
              <a:rPr lang="en-US" dirty="0" err="1"/>
              <a:t>tm.py</a:t>
            </a:r>
            <a:r>
              <a:rPr lang="en-US" dirty="0"/>
              <a:t> file it generates output to </a:t>
            </a:r>
            <a:r>
              <a:rPr lang="en-US" dirty="0" err="1"/>
              <a:t>stdout</a:t>
            </a:r>
            <a:r>
              <a:rPr lang="en-US" dirty="0"/>
              <a:t>, which is fed to </a:t>
            </a:r>
            <a:r>
              <a:rPr lang="en-US" dirty="0" err="1"/>
              <a:t>Graphviz's</a:t>
            </a:r>
            <a:r>
              <a:rPr lang="en-US" dirty="0"/>
              <a:t> dot to generate the Data Flow Diagram: </a:t>
            </a:r>
            <a:r>
              <a:rPr lang="en-US" dirty="0" err="1"/>
              <a:t>tm.py</a:t>
            </a:r>
            <a:r>
              <a:rPr lang="en-US" dirty="0"/>
              <a:t> --</a:t>
            </a:r>
            <a:r>
              <a:rPr lang="en-US" dirty="0" err="1"/>
              <a:t>dfd</a:t>
            </a:r>
            <a:r>
              <a:rPr lang="en-US" dirty="0"/>
              <a:t> | dot -</a:t>
            </a:r>
            <a:r>
              <a:rPr lang="en-US" dirty="0" err="1"/>
              <a:t>Tpng</a:t>
            </a:r>
            <a:r>
              <a:rPr lang="en-US" dirty="0"/>
              <a:t> -o </a:t>
            </a:r>
            <a:r>
              <a:rPr lang="en-US" dirty="0" err="1"/>
              <a:t>sample.png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diagram of a web server&#10;&#10;AI-generated content may be incorrect.">
            <a:extLst>
              <a:ext uri="{FF2B5EF4-FFF2-40B4-BE49-F238E27FC236}">
                <a16:creationId xmlns:a16="http://schemas.microsoft.com/office/drawing/2014/main" id="{E70B9406-F133-9086-80BE-F1496DD81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301" y="3432141"/>
            <a:ext cx="4811165" cy="287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51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DA574-94B4-513E-2E49-C54F7BD5B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4602"/>
            <a:ext cx="10515600" cy="5772361"/>
          </a:xfrm>
        </p:spPr>
        <p:txBody>
          <a:bodyPr/>
          <a:lstStyle/>
          <a:p>
            <a:r>
              <a:rPr lang="en-US" dirty="0" err="1"/>
              <a:t>tm.py</a:t>
            </a:r>
            <a:r>
              <a:rPr lang="en-US" dirty="0"/>
              <a:t> --seq | java -</a:t>
            </a:r>
            <a:r>
              <a:rPr lang="en-US" dirty="0" err="1"/>
              <a:t>Djava.awt.headless</a:t>
            </a:r>
            <a:r>
              <a:rPr lang="en-US" dirty="0"/>
              <a:t>=true -jar </a:t>
            </a:r>
            <a:r>
              <a:rPr lang="en-US" dirty="0" err="1"/>
              <a:t>plantuml.jar</a:t>
            </a:r>
            <a:r>
              <a:rPr lang="en-US" dirty="0"/>
              <a:t> -</a:t>
            </a:r>
            <a:r>
              <a:rPr lang="en-US" dirty="0" err="1"/>
              <a:t>tpng</a:t>
            </a:r>
            <a:r>
              <a:rPr lang="en-US" dirty="0"/>
              <a:t> -pipe &gt; </a:t>
            </a:r>
            <a:r>
              <a:rPr lang="en-US" dirty="0" err="1"/>
              <a:t>seq.png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95D2E697-DC3E-41B8-D9C5-0A997955D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392" y="1618744"/>
            <a:ext cx="7772400" cy="419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840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A6950-7B91-8C94-0558-F6BA63B1A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4074"/>
            <a:ext cx="10515600" cy="5642889"/>
          </a:xfrm>
        </p:spPr>
        <p:txBody>
          <a:bodyPr/>
          <a:lstStyle/>
          <a:p>
            <a:r>
              <a:rPr lang="en-US" b="1" dirty="0"/>
              <a:t>Creating a Report</a:t>
            </a:r>
          </a:p>
          <a:p>
            <a:r>
              <a:rPr lang="en-US" dirty="0"/>
              <a:t>The diagrams and findings can be included in the template to create a final report: </a:t>
            </a:r>
            <a:r>
              <a:rPr lang="en-US" dirty="0" err="1"/>
              <a:t>tm.py</a:t>
            </a:r>
            <a:r>
              <a:rPr lang="en-US" dirty="0"/>
              <a:t> --report docs/</a:t>
            </a:r>
            <a:r>
              <a:rPr lang="en-US" dirty="0" err="1"/>
              <a:t>basic_template.md</a:t>
            </a:r>
            <a:r>
              <a:rPr lang="en-US" dirty="0"/>
              <a:t> | </a:t>
            </a:r>
            <a:r>
              <a:rPr lang="en-US" dirty="0" err="1"/>
              <a:t>pandoc</a:t>
            </a:r>
            <a:r>
              <a:rPr lang="en-US" dirty="0"/>
              <a:t> -f markdown -t html &gt; </a:t>
            </a:r>
            <a:r>
              <a:rPr lang="en-US" dirty="0" err="1"/>
              <a:t>report.html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3E6CFB-8333-7092-8315-01CEFCB8F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225" y="2527000"/>
            <a:ext cx="6305550" cy="403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0911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7AE03-307D-4CEC-F43B-61446F727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2694"/>
            <a:ext cx="10515600" cy="5764269"/>
          </a:xfrm>
        </p:spPr>
        <p:txBody>
          <a:bodyPr/>
          <a:lstStyle/>
          <a:p>
            <a:r>
              <a:rPr lang="en-US" dirty="0"/>
              <a:t>To group findings by elements, use a more advanced, nested loop:</a:t>
            </a:r>
          </a:p>
        </p:txBody>
      </p:sp>
      <p:pic>
        <p:nvPicPr>
          <p:cNvPr id="5" name="Picture 4" descr="A computer code with text&#10;&#10;AI-generated content may be incorrect.">
            <a:extLst>
              <a:ext uri="{FF2B5EF4-FFF2-40B4-BE49-F238E27FC236}">
                <a16:creationId xmlns:a16="http://schemas.microsoft.com/office/drawing/2014/main" id="{037AD121-D72B-52AD-33D8-2612AE1AA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100" y="1517650"/>
            <a:ext cx="6527800" cy="382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128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41799-21B2-5CED-0B2D-E6E01E79F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Overrides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9260A-EC54-302E-2407-DC298B671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override attributes of findings (threats matching the model assets and/or dataflows), for example to set a custom CVSS score and/or response text:</a:t>
            </a:r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C19318E-F3E3-4908-A4C4-CAB1A8AC8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574488"/>
            <a:ext cx="7772400" cy="194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12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FC77E-3CFB-F516-FC4D-F77613A76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Threats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81555-0676-D020-19A5-CFDC75F5E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the security practitioner, you may supply your own threats file by setting </a:t>
            </a:r>
            <a:r>
              <a:rPr lang="en-US" dirty="0" err="1"/>
              <a:t>TM.threatsFile</a:t>
            </a:r>
            <a:r>
              <a:rPr lang="en-US" dirty="0"/>
              <a:t>. It should contain entries like:</a:t>
            </a:r>
          </a:p>
        </p:txBody>
      </p:sp>
      <p:pic>
        <p:nvPicPr>
          <p:cNvPr id="5" name="Picture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A68A3DEC-5D12-D7E7-C1A8-ECF838962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94" y="3179046"/>
            <a:ext cx="7772400" cy="248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093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1743</Words>
  <Application>Microsoft Macintosh PowerPoint</Application>
  <PresentationFormat>Widescreen</PresentationFormat>
  <Paragraphs>182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Outline</vt:lpstr>
      <vt:lpstr>1. Smart home assistant </vt:lpstr>
      <vt:lpstr>1. Smart home assistant </vt:lpstr>
      <vt:lpstr>Design phase</vt:lpstr>
      <vt:lpstr>Break phase</vt:lpstr>
      <vt:lpstr>Fix phase</vt:lpstr>
      <vt:lpstr>Verify phase</vt:lpstr>
      <vt:lpstr>2.Airplane in flight entertainment system</vt:lpstr>
      <vt:lpstr>2.Airplane in flight entertainment system</vt:lpstr>
      <vt:lpstr>Design phase</vt:lpstr>
      <vt:lpstr>Break phase</vt:lpstr>
      <vt:lpstr>Fix phase</vt:lpstr>
      <vt:lpstr>Verify phase</vt:lpstr>
      <vt:lpstr>PowerPoint Presentation</vt:lpstr>
      <vt:lpstr>PYTM : python threat modeling</vt:lpstr>
      <vt:lpstr>Features of PYTM</vt:lpstr>
      <vt:lpstr>What is plantuml.jar ?</vt:lpstr>
      <vt:lpstr>Usage</vt:lpstr>
      <vt:lpstr>Creating a Threat Model</vt:lpstr>
      <vt:lpstr>Generating Diagrams</vt:lpstr>
      <vt:lpstr>PowerPoint Presentation</vt:lpstr>
      <vt:lpstr>PowerPoint Presentation</vt:lpstr>
      <vt:lpstr>PowerPoint Presentation</vt:lpstr>
      <vt:lpstr>Overrides</vt:lpstr>
      <vt:lpstr>Threats database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Macbook</dc:creator>
  <cp:lastModifiedBy>Macbook</cp:lastModifiedBy>
  <cp:revision>4</cp:revision>
  <dcterms:created xsi:type="dcterms:W3CDTF">2025-09-22T16:29:18Z</dcterms:created>
  <dcterms:modified xsi:type="dcterms:W3CDTF">2025-09-28T06:31:44Z</dcterms:modified>
</cp:coreProperties>
</file>