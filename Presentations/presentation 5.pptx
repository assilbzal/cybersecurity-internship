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4" r:id="rId3"/>
    <p:sldId id="257" r:id="rId4"/>
    <p:sldId id="258" r:id="rId5"/>
    <p:sldId id="266" r:id="rId6"/>
    <p:sldId id="259" r:id="rId7"/>
    <p:sldId id="260" r:id="rId8"/>
    <p:sldId id="261" r:id="rId9"/>
    <p:sldId id="262" r:id="rId10"/>
    <p:sldId id="263" r:id="rId11"/>
    <p:sldId id="264" r:id="rId12"/>
    <p:sldId id="265"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34"/>
    <p:restoredTop sz="94650"/>
  </p:normalViewPr>
  <p:slideViewPr>
    <p:cSldViewPr snapToGrid="0">
      <p:cViewPr>
        <p:scale>
          <a:sx n="114" d="100"/>
          <a:sy n="114" d="100"/>
        </p:scale>
        <p:origin x="1784" y="11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84442-BAB9-F929-0DD0-DE3F73CDFE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2F4A5C-7E0D-ED5F-A3D9-56B7BCD8D9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B32C5A-28D4-1301-A351-B55CDA06CE26}"/>
              </a:ext>
            </a:extLst>
          </p:cNvPr>
          <p:cNvSpPr>
            <a:spLocks noGrp="1"/>
          </p:cNvSpPr>
          <p:nvPr>
            <p:ph type="dt" sz="half" idx="10"/>
          </p:nvPr>
        </p:nvSpPr>
        <p:spPr/>
        <p:txBody>
          <a:bodyPr/>
          <a:lstStyle/>
          <a:p>
            <a:fld id="{3AA40B34-3AC0-B54F-BC91-5CFDD0580ED9}" type="datetimeFigureOut">
              <a:rPr lang="en-US" smtClean="0"/>
              <a:t>9/13/25</a:t>
            </a:fld>
            <a:endParaRPr lang="en-US"/>
          </a:p>
        </p:txBody>
      </p:sp>
      <p:sp>
        <p:nvSpPr>
          <p:cNvPr id="5" name="Footer Placeholder 4">
            <a:extLst>
              <a:ext uri="{FF2B5EF4-FFF2-40B4-BE49-F238E27FC236}">
                <a16:creationId xmlns:a16="http://schemas.microsoft.com/office/drawing/2014/main" id="{F1CBFF83-795C-D8CB-1CE0-F686BC4DAD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CE459-3CDB-D040-5A5D-06E641230439}"/>
              </a:ext>
            </a:extLst>
          </p:cNvPr>
          <p:cNvSpPr>
            <a:spLocks noGrp="1"/>
          </p:cNvSpPr>
          <p:nvPr>
            <p:ph type="sldNum" sz="quarter" idx="12"/>
          </p:nvPr>
        </p:nvSpPr>
        <p:spPr/>
        <p:txBody>
          <a:bodyPr/>
          <a:lstStyle/>
          <a:p>
            <a:fld id="{FE13E39D-F5B0-9344-BAD9-FE105B285653}" type="slidenum">
              <a:rPr lang="en-US" smtClean="0"/>
              <a:t>‹#›</a:t>
            </a:fld>
            <a:endParaRPr lang="en-US"/>
          </a:p>
        </p:txBody>
      </p:sp>
    </p:spTree>
    <p:extLst>
      <p:ext uri="{BB962C8B-B14F-4D97-AF65-F5344CB8AC3E}">
        <p14:creationId xmlns:p14="http://schemas.microsoft.com/office/powerpoint/2010/main" val="4083805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A6CAE-EF47-96A4-2DF4-C4AD258A89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7214C1-28D2-BE6C-367B-F2AB8E99D2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EFFC43-5948-4568-0691-5D92043A77AF}"/>
              </a:ext>
            </a:extLst>
          </p:cNvPr>
          <p:cNvSpPr>
            <a:spLocks noGrp="1"/>
          </p:cNvSpPr>
          <p:nvPr>
            <p:ph type="dt" sz="half" idx="10"/>
          </p:nvPr>
        </p:nvSpPr>
        <p:spPr/>
        <p:txBody>
          <a:bodyPr/>
          <a:lstStyle/>
          <a:p>
            <a:fld id="{3AA40B34-3AC0-B54F-BC91-5CFDD0580ED9}" type="datetimeFigureOut">
              <a:rPr lang="en-US" smtClean="0"/>
              <a:t>9/13/25</a:t>
            </a:fld>
            <a:endParaRPr lang="en-US"/>
          </a:p>
        </p:txBody>
      </p:sp>
      <p:sp>
        <p:nvSpPr>
          <p:cNvPr id="5" name="Footer Placeholder 4">
            <a:extLst>
              <a:ext uri="{FF2B5EF4-FFF2-40B4-BE49-F238E27FC236}">
                <a16:creationId xmlns:a16="http://schemas.microsoft.com/office/drawing/2014/main" id="{604DE30B-5814-B063-17A2-8CBA377588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985870-3A8C-B56B-A187-F0F8076C396A}"/>
              </a:ext>
            </a:extLst>
          </p:cNvPr>
          <p:cNvSpPr>
            <a:spLocks noGrp="1"/>
          </p:cNvSpPr>
          <p:nvPr>
            <p:ph type="sldNum" sz="quarter" idx="12"/>
          </p:nvPr>
        </p:nvSpPr>
        <p:spPr/>
        <p:txBody>
          <a:bodyPr/>
          <a:lstStyle/>
          <a:p>
            <a:fld id="{FE13E39D-F5B0-9344-BAD9-FE105B285653}" type="slidenum">
              <a:rPr lang="en-US" smtClean="0"/>
              <a:t>‹#›</a:t>
            </a:fld>
            <a:endParaRPr lang="en-US"/>
          </a:p>
        </p:txBody>
      </p:sp>
    </p:spTree>
    <p:extLst>
      <p:ext uri="{BB962C8B-B14F-4D97-AF65-F5344CB8AC3E}">
        <p14:creationId xmlns:p14="http://schemas.microsoft.com/office/powerpoint/2010/main" val="4137440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8BE6F-2348-37B2-F374-6347BAE347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EC007C-5BD7-8DA5-CC6A-CB1D14606B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91C8BD-5F42-0594-FFFD-6A397603C431}"/>
              </a:ext>
            </a:extLst>
          </p:cNvPr>
          <p:cNvSpPr>
            <a:spLocks noGrp="1"/>
          </p:cNvSpPr>
          <p:nvPr>
            <p:ph type="dt" sz="half" idx="10"/>
          </p:nvPr>
        </p:nvSpPr>
        <p:spPr/>
        <p:txBody>
          <a:bodyPr/>
          <a:lstStyle/>
          <a:p>
            <a:fld id="{3AA40B34-3AC0-B54F-BC91-5CFDD0580ED9}" type="datetimeFigureOut">
              <a:rPr lang="en-US" smtClean="0"/>
              <a:t>9/13/25</a:t>
            </a:fld>
            <a:endParaRPr lang="en-US"/>
          </a:p>
        </p:txBody>
      </p:sp>
      <p:sp>
        <p:nvSpPr>
          <p:cNvPr id="5" name="Footer Placeholder 4">
            <a:extLst>
              <a:ext uri="{FF2B5EF4-FFF2-40B4-BE49-F238E27FC236}">
                <a16:creationId xmlns:a16="http://schemas.microsoft.com/office/drawing/2014/main" id="{1C880E2B-99B9-BD6F-EB99-6B4561CB85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D990AA-AF7B-B482-1C30-3BC5FE966132}"/>
              </a:ext>
            </a:extLst>
          </p:cNvPr>
          <p:cNvSpPr>
            <a:spLocks noGrp="1"/>
          </p:cNvSpPr>
          <p:nvPr>
            <p:ph type="sldNum" sz="quarter" idx="12"/>
          </p:nvPr>
        </p:nvSpPr>
        <p:spPr/>
        <p:txBody>
          <a:bodyPr/>
          <a:lstStyle/>
          <a:p>
            <a:fld id="{FE13E39D-F5B0-9344-BAD9-FE105B285653}" type="slidenum">
              <a:rPr lang="en-US" smtClean="0"/>
              <a:t>‹#›</a:t>
            </a:fld>
            <a:endParaRPr lang="en-US"/>
          </a:p>
        </p:txBody>
      </p:sp>
    </p:spTree>
    <p:extLst>
      <p:ext uri="{BB962C8B-B14F-4D97-AF65-F5344CB8AC3E}">
        <p14:creationId xmlns:p14="http://schemas.microsoft.com/office/powerpoint/2010/main" val="1604604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A5D7A-3D31-BD13-F4B7-546249BD82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A91E44-C4F7-B299-2C7D-AE2964CF48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6602DF-A11A-48ED-8B59-51646DB754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F21221-34B3-041B-A34B-F335B8322DC3}"/>
              </a:ext>
            </a:extLst>
          </p:cNvPr>
          <p:cNvSpPr>
            <a:spLocks noGrp="1"/>
          </p:cNvSpPr>
          <p:nvPr>
            <p:ph type="dt" sz="half" idx="10"/>
          </p:nvPr>
        </p:nvSpPr>
        <p:spPr/>
        <p:txBody>
          <a:bodyPr/>
          <a:lstStyle/>
          <a:p>
            <a:fld id="{3AA40B34-3AC0-B54F-BC91-5CFDD0580ED9}" type="datetimeFigureOut">
              <a:rPr lang="en-US" smtClean="0"/>
              <a:t>9/13/25</a:t>
            </a:fld>
            <a:endParaRPr lang="en-US"/>
          </a:p>
        </p:txBody>
      </p:sp>
      <p:sp>
        <p:nvSpPr>
          <p:cNvPr id="6" name="Footer Placeholder 5">
            <a:extLst>
              <a:ext uri="{FF2B5EF4-FFF2-40B4-BE49-F238E27FC236}">
                <a16:creationId xmlns:a16="http://schemas.microsoft.com/office/drawing/2014/main" id="{097F3B11-3EBC-F902-8173-3CF40627CA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CBDC6D-5B1B-C08E-7897-118198982420}"/>
              </a:ext>
            </a:extLst>
          </p:cNvPr>
          <p:cNvSpPr>
            <a:spLocks noGrp="1"/>
          </p:cNvSpPr>
          <p:nvPr>
            <p:ph type="sldNum" sz="quarter" idx="12"/>
          </p:nvPr>
        </p:nvSpPr>
        <p:spPr/>
        <p:txBody>
          <a:bodyPr/>
          <a:lstStyle/>
          <a:p>
            <a:fld id="{FE13E39D-F5B0-9344-BAD9-FE105B285653}" type="slidenum">
              <a:rPr lang="en-US" smtClean="0"/>
              <a:t>‹#›</a:t>
            </a:fld>
            <a:endParaRPr lang="en-US"/>
          </a:p>
        </p:txBody>
      </p:sp>
    </p:spTree>
    <p:extLst>
      <p:ext uri="{BB962C8B-B14F-4D97-AF65-F5344CB8AC3E}">
        <p14:creationId xmlns:p14="http://schemas.microsoft.com/office/powerpoint/2010/main" val="3583685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985CF-54A3-78FA-8240-86008AD354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275C89-1941-7F2A-E680-A3883A2DD4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EDC72D-C8C5-EA00-402E-252332F955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223A66-0BF8-BC76-2554-42CA6125FF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C3AE52-6537-B50C-8B9A-62B18E9928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79B7AA-04BA-5417-9685-EA1F3FA8C344}"/>
              </a:ext>
            </a:extLst>
          </p:cNvPr>
          <p:cNvSpPr>
            <a:spLocks noGrp="1"/>
          </p:cNvSpPr>
          <p:nvPr>
            <p:ph type="dt" sz="half" idx="10"/>
          </p:nvPr>
        </p:nvSpPr>
        <p:spPr/>
        <p:txBody>
          <a:bodyPr/>
          <a:lstStyle/>
          <a:p>
            <a:fld id="{3AA40B34-3AC0-B54F-BC91-5CFDD0580ED9}" type="datetimeFigureOut">
              <a:rPr lang="en-US" smtClean="0"/>
              <a:t>9/13/25</a:t>
            </a:fld>
            <a:endParaRPr lang="en-US"/>
          </a:p>
        </p:txBody>
      </p:sp>
      <p:sp>
        <p:nvSpPr>
          <p:cNvPr id="8" name="Footer Placeholder 7">
            <a:extLst>
              <a:ext uri="{FF2B5EF4-FFF2-40B4-BE49-F238E27FC236}">
                <a16:creationId xmlns:a16="http://schemas.microsoft.com/office/drawing/2014/main" id="{9316ABC1-3C5D-36A3-4C06-ED25C95E77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9BCA52-BDC0-741E-323E-9BD7D4895052}"/>
              </a:ext>
            </a:extLst>
          </p:cNvPr>
          <p:cNvSpPr>
            <a:spLocks noGrp="1"/>
          </p:cNvSpPr>
          <p:nvPr>
            <p:ph type="sldNum" sz="quarter" idx="12"/>
          </p:nvPr>
        </p:nvSpPr>
        <p:spPr/>
        <p:txBody>
          <a:bodyPr/>
          <a:lstStyle/>
          <a:p>
            <a:fld id="{FE13E39D-F5B0-9344-BAD9-FE105B285653}" type="slidenum">
              <a:rPr lang="en-US" smtClean="0"/>
              <a:t>‹#›</a:t>
            </a:fld>
            <a:endParaRPr lang="en-US"/>
          </a:p>
        </p:txBody>
      </p:sp>
    </p:spTree>
    <p:extLst>
      <p:ext uri="{BB962C8B-B14F-4D97-AF65-F5344CB8AC3E}">
        <p14:creationId xmlns:p14="http://schemas.microsoft.com/office/powerpoint/2010/main" val="2154435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85E6-340C-A7C8-7246-4119120297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F1F538-0043-7212-93E9-FC8C7D6ED77A}"/>
              </a:ext>
            </a:extLst>
          </p:cNvPr>
          <p:cNvSpPr>
            <a:spLocks noGrp="1"/>
          </p:cNvSpPr>
          <p:nvPr>
            <p:ph type="dt" sz="half" idx="10"/>
          </p:nvPr>
        </p:nvSpPr>
        <p:spPr/>
        <p:txBody>
          <a:bodyPr/>
          <a:lstStyle/>
          <a:p>
            <a:fld id="{3AA40B34-3AC0-B54F-BC91-5CFDD0580ED9}" type="datetimeFigureOut">
              <a:rPr lang="en-US" smtClean="0"/>
              <a:t>9/13/25</a:t>
            </a:fld>
            <a:endParaRPr lang="en-US"/>
          </a:p>
        </p:txBody>
      </p:sp>
      <p:sp>
        <p:nvSpPr>
          <p:cNvPr id="4" name="Footer Placeholder 3">
            <a:extLst>
              <a:ext uri="{FF2B5EF4-FFF2-40B4-BE49-F238E27FC236}">
                <a16:creationId xmlns:a16="http://schemas.microsoft.com/office/drawing/2014/main" id="{DCDEEF7B-D378-489D-931E-2FCE771AE4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2D8F7D-BC6A-C3D9-D136-6F30F6845F5E}"/>
              </a:ext>
            </a:extLst>
          </p:cNvPr>
          <p:cNvSpPr>
            <a:spLocks noGrp="1"/>
          </p:cNvSpPr>
          <p:nvPr>
            <p:ph type="sldNum" sz="quarter" idx="12"/>
          </p:nvPr>
        </p:nvSpPr>
        <p:spPr/>
        <p:txBody>
          <a:bodyPr/>
          <a:lstStyle/>
          <a:p>
            <a:fld id="{FE13E39D-F5B0-9344-BAD9-FE105B285653}" type="slidenum">
              <a:rPr lang="en-US" smtClean="0"/>
              <a:t>‹#›</a:t>
            </a:fld>
            <a:endParaRPr lang="en-US"/>
          </a:p>
        </p:txBody>
      </p:sp>
    </p:spTree>
    <p:extLst>
      <p:ext uri="{BB962C8B-B14F-4D97-AF65-F5344CB8AC3E}">
        <p14:creationId xmlns:p14="http://schemas.microsoft.com/office/powerpoint/2010/main" val="424026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5A0BE0-0382-AB09-823D-C71DBCBC6CCA}"/>
              </a:ext>
            </a:extLst>
          </p:cNvPr>
          <p:cNvSpPr>
            <a:spLocks noGrp="1"/>
          </p:cNvSpPr>
          <p:nvPr>
            <p:ph type="dt" sz="half" idx="10"/>
          </p:nvPr>
        </p:nvSpPr>
        <p:spPr/>
        <p:txBody>
          <a:bodyPr/>
          <a:lstStyle/>
          <a:p>
            <a:fld id="{3AA40B34-3AC0-B54F-BC91-5CFDD0580ED9}" type="datetimeFigureOut">
              <a:rPr lang="en-US" smtClean="0"/>
              <a:t>9/13/25</a:t>
            </a:fld>
            <a:endParaRPr lang="en-US"/>
          </a:p>
        </p:txBody>
      </p:sp>
      <p:sp>
        <p:nvSpPr>
          <p:cNvPr id="3" name="Footer Placeholder 2">
            <a:extLst>
              <a:ext uri="{FF2B5EF4-FFF2-40B4-BE49-F238E27FC236}">
                <a16:creationId xmlns:a16="http://schemas.microsoft.com/office/drawing/2014/main" id="{E6321EFB-74F9-88C6-13B2-5C8DB63587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6A252F-5092-5721-4F06-2701A8349F07}"/>
              </a:ext>
            </a:extLst>
          </p:cNvPr>
          <p:cNvSpPr>
            <a:spLocks noGrp="1"/>
          </p:cNvSpPr>
          <p:nvPr>
            <p:ph type="sldNum" sz="quarter" idx="12"/>
          </p:nvPr>
        </p:nvSpPr>
        <p:spPr/>
        <p:txBody>
          <a:bodyPr/>
          <a:lstStyle/>
          <a:p>
            <a:fld id="{FE13E39D-F5B0-9344-BAD9-FE105B285653}" type="slidenum">
              <a:rPr lang="en-US" smtClean="0"/>
              <a:t>‹#›</a:t>
            </a:fld>
            <a:endParaRPr lang="en-US"/>
          </a:p>
        </p:txBody>
      </p:sp>
    </p:spTree>
    <p:extLst>
      <p:ext uri="{BB962C8B-B14F-4D97-AF65-F5344CB8AC3E}">
        <p14:creationId xmlns:p14="http://schemas.microsoft.com/office/powerpoint/2010/main" val="3867876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B170C-6F42-F216-C996-2505E5FCFB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AC77DD-624E-4CD3-6FFF-26C5365A77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D2B393-ABC2-0308-E6E7-392B515C74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4BDA64-CB87-2459-EAD7-94E7F38DE5A4}"/>
              </a:ext>
            </a:extLst>
          </p:cNvPr>
          <p:cNvSpPr>
            <a:spLocks noGrp="1"/>
          </p:cNvSpPr>
          <p:nvPr>
            <p:ph type="dt" sz="half" idx="10"/>
          </p:nvPr>
        </p:nvSpPr>
        <p:spPr/>
        <p:txBody>
          <a:bodyPr/>
          <a:lstStyle/>
          <a:p>
            <a:fld id="{3AA40B34-3AC0-B54F-BC91-5CFDD0580ED9}" type="datetimeFigureOut">
              <a:rPr lang="en-US" smtClean="0"/>
              <a:t>9/13/25</a:t>
            </a:fld>
            <a:endParaRPr lang="en-US"/>
          </a:p>
        </p:txBody>
      </p:sp>
      <p:sp>
        <p:nvSpPr>
          <p:cNvPr id="6" name="Footer Placeholder 5">
            <a:extLst>
              <a:ext uri="{FF2B5EF4-FFF2-40B4-BE49-F238E27FC236}">
                <a16:creationId xmlns:a16="http://schemas.microsoft.com/office/drawing/2014/main" id="{6AF2A90C-1A1F-B698-FD05-263841CB6B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9CD7F1-DC26-7FD0-FCE0-AC220737E4BE}"/>
              </a:ext>
            </a:extLst>
          </p:cNvPr>
          <p:cNvSpPr>
            <a:spLocks noGrp="1"/>
          </p:cNvSpPr>
          <p:nvPr>
            <p:ph type="sldNum" sz="quarter" idx="12"/>
          </p:nvPr>
        </p:nvSpPr>
        <p:spPr/>
        <p:txBody>
          <a:bodyPr/>
          <a:lstStyle/>
          <a:p>
            <a:fld id="{FE13E39D-F5B0-9344-BAD9-FE105B285653}" type="slidenum">
              <a:rPr lang="en-US" smtClean="0"/>
              <a:t>‹#›</a:t>
            </a:fld>
            <a:endParaRPr lang="en-US"/>
          </a:p>
        </p:txBody>
      </p:sp>
    </p:spTree>
    <p:extLst>
      <p:ext uri="{BB962C8B-B14F-4D97-AF65-F5344CB8AC3E}">
        <p14:creationId xmlns:p14="http://schemas.microsoft.com/office/powerpoint/2010/main" val="346495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9E4EC-9857-CB22-C828-64B5ED3819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7A68181-0859-F485-43EC-1D1BBA2825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0BE410-B03B-131E-5870-96FE8B981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6869F2-536C-1513-3501-0FD10006625F}"/>
              </a:ext>
            </a:extLst>
          </p:cNvPr>
          <p:cNvSpPr>
            <a:spLocks noGrp="1"/>
          </p:cNvSpPr>
          <p:nvPr>
            <p:ph type="dt" sz="half" idx="10"/>
          </p:nvPr>
        </p:nvSpPr>
        <p:spPr/>
        <p:txBody>
          <a:bodyPr/>
          <a:lstStyle/>
          <a:p>
            <a:fld id="{3AA40B34-3AC0-B54F-BC91-5CFDD0580ED9}" type="datetimeFigureOut">
              <a:rPr lang="en-US" smtClean="0"/>
              <a:t>9/13/25</a:t>
            </a:fld>
            <a:endParaRPr lang="en-US"/>
          </a:p>
        </p:txBody>
      </p:sp>
      <p:sp>
        <p:nvSpPr>
          <p:cNvPr id="6" name="Footer Placeholder 5">
            <a:extLst>
              <a:ext uri="{FF2B5EF4-FFF2-40B4-BE49-F238E27FC236}">
                <a16:creationId xmlns:a16="http://schemas.microsoft.com/office/drawing/2014/main" id="{B88BA1A5-0770-F3EC-3DBD-E529BB62BB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C37115-837F-042A-52DF-D477218CE461}"/>
              </a:ext>
            </a:extLst>
          </p:cNvPr>
          <p:cNvSpPr>
            <a:spLocks noGrp="1"/>
          </p:cNvSpPr>
          <p:nvPr>
            <p:ph type="sldNum" sz="quarter" idx="12"/>
          </p:nvPr>
        </p:nvSpPr>
        <p:spPr/>
        <p:txBody>
          <a:bodyPr/>
          <a:lstStyle/>
          <a:p>
            <a:fld id="{FE13E39D-F5B0-9344-BAD9-FE105B285653}" type="slidenum">
              <a:rPr lang="en-US" smtClean="0"/>
              <a:t>‹#›</a:t>
            </a:fld>
            <a:endParaRPr lang="en-US"/>
          </a:p>
        </p:txBody>
      </p:sp>
    </p:spTree>
    <p:extLst>
      <p:ext uri="{BB962C8B-B14F-4D97-AF65-F5344CB8AC3E}">
        <p14:creationId xmlns:p14="http://schemas.microsoft.com/office/powerpoint/2010/main" val="2118095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C6AC9-00E5-5AFB-B388-36B84D488A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75DE67-0248-384B-D4FA-0639E4ADF8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AF85C8-E5CE-D56F-C9FE-AC757A2A31B5}"/>
              </a:ext>
            </a:extLst>
          </p:cNvPr>
          <p:cNvSpPr>
            <a:spLocks noGrp="1"/>
          </p:cNvSpPr>
          <p:nvPr>
            <p:ph type="dt" sz="half" idx="10"/>
          </p:nvPr>
        </p:nvSpPr>
        <p:spPr/>
        <p:txBody>
          <a:bodyPr/>
          <a:lstStyle/>
          <a:p>
            <a:fld id="{3AA40B34-3AC0-B54F-BC91-5CFDD0580ED9}" type="datetimeFigureOut">
              <a:rPr lang="en-US" smtClean="0"/>
              <a:t>9/13/25</a:t>
            </a:fld>
            <a:endParaRPr lang="en-US"/>
          </a:p>
        </p:txBody>
      </p:sp>
      <p:sp>
        <p:nvSpPr>
          <p:cNvPr id="5" name="Footer Placeholder 4">
            <a:extLst>
              <a:ext uri="{FF2B5EF4-FFF2-40B4-BE49-F238E27FC236}">
                <a16:creationId xmlns:a16="http://schemas.microsoft.com/office/drawing/2014/main" id="{1F061E6B-88EF-CD49-9BD0-472392A23B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B27FD1-9378-7F35-FA1C-70B8A09C1BF6}"/>
              </a:ext>
            </a:extLst>
          </p:cNvPr>
          <p:cNvSpPr>
            <a:spLocks noGrp="1"/>
          </p:cNvSpPr>
          <p:nvPr>
            <p:ph type="sldNum" sz="quarter" idx="12"/>
          </p:nvPr>
        </p:nvSpPr>
        <p:spPr/>
        <p:txBody>
          <a:bodyPr/>
          <a:lstStyle/>
          <a:p>
            <a:fld id="{FE13E39D-F5B0-9344-BAD9-FE105B285653}" type="slidenum">
              <a:rPr lang="en-US" smtClean="0"/>
              <a:t>‹#›</a:t>
            </a:fld>
            <a:endParaRPr lang="en-US"/>
          </a:p>
        </p:txBody>
      </p:sp>
    </p:spTree>
    <p:extLst>
      <p:ext uri="{BB962C8B-B14F-4D97-AF65-F5344CB8AC3E}">
        <p14:creationId xmlns:p14="http://schemas.microsoft.com/office/powerpoint/2010/main" val="2781931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AB3D3F-B619-768B-A275-C1BAEDE089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6EC6B5-9897-9383-8E68-9809FA4628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AF908A-9DE4-F9E3-2C62-C12454DDED88}"/>
              </a:ext>
            </a:extLst>
          </p:cNvPr>
          <p:cNvSpPr>
            <a:spLocks noGrp="1"/>
          </p:cNvSpPr>
          <p:nvPr>
            <p:ph type="dt" sz="half" idx="10"/>
          </p:nvPr>
        </p:nvSpPr>
        <p:spPr/>
        <p:txBody>
          <a:bodyPr/>
          <a:lstStyle/>
          <a:p>
            <a:fld id="{3AA40B34-3AC0-B54F-BC91-5CFDD0580ED9}" type="datetimeFigureOut">
              <a:rPr lang="en-US" smtClean="0"/>
              <a:t>9/13/25</a:t>
            </a:fld>
            <a:endParaRPr lang="en-US"/>
          </a:p>
        </p:txBody>
      </p:sp>
      <p:sp>
        <p:nvSpPr>
          <p:cNvPr id="5" name="Footer Placeholder 4">
            <a:extLst>
              <a:ext uri="{FF2B5EF4-FFF2-40B4-BE49-F238E27FC236}">
                <a16:creationId xmlns:a16="http://schemas.microsoft.com/office/drawing/2014/main" id="{EF7F4A0E-3292-F41C-9D70-2F695E0C6C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4D37D0-CD19-EEA0-1E72-9A012EF4CBA4}"/>
              </a:ext>
            </a:extLst>
          </p:cNvPr>
          <p:cNvSpPr>
            <a:spLocks noGrp="1"/>
          </p:cNvSpPr>
          <p:nvPr>
            <p:ph type="sldNum" sz="quarter" idx="12"/>
          </p:nvPr>
        </p:nvSpPr>
        <p:spPr/>
        <p:txBody>
          <a:bodyPr/>
          <a:lstStyle/>
          <a:p>
            <a:fld id="{FE13E39D-F5B0-9344-BAD9-FE105B285653}" type="slidenum">
              <a:rPr lang="en-US" smtClean="0"/>
              <a:t>‹#›</a:t>
            </a:fld>
            <a:endParaRPr lang="en-US"/>
          </a:p>
        </p:txBody>
      </p:sp>
    </p:spTree>
    <p:extLst>
      <p:ext uri="{BB962C8B-B14F-4D97-AF65-F5344CB8AC3E}">
        <p14:creationId xmlns:p14="http://schemas.microsoft.com/office/powerpoint/2010/main" val="470933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1BB541-31DD-3679-5DB6-2E4703225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221C37-CF4E-BC04-87D2-6D5214E988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5BCB37-3071-DCD4-1822-06642175A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A40B34-3AC0-B54F-BC91-5CFDD0580ED9}" type="datetimeFigureOut">
              <a:rPr lang="en-US" smtClean="0"/>
              <a:t>9/13/25</a:t>
            </a:fld>
            <a:endParaRPr lang="en-US"/>
          </a:p>
        </p:txBody>
      </p:sp>
      <p:sp>
        <p:nvSpPr>
          <p:cNvPr id="5" name="Footer Placeholder 4">
            <a:extLst>
              <a:ext uri="{FF2B5EF4-FFF2-40B4-BE49-F238E27FC236}">
                <a16:creationId xmlns:a16="http://schemas.microsoft.com/office/drawing/2014/main" id="{401A2450-FF80-DC36-86F3-191012F533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56BED2B-9D33-9E22-615F-654D18FAE5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13E39D-F5B0-9344-BAD9-FE105B285653}" type="slidenum">
              <a:rPr lang="en-US" smtClean="0"/>
              <a:t>‹#›</a:t>
            </a:fld>
            <a:endParaRPr lang="en-US"/>
          </a:p>
        </p:txBody>
      </p:sp>
    </p:spTree>
    <p:extLst>
      <p:ext uri="{BB962C8B-B14F-4D97-AF65-F5344CB8AC3E}">
        <p14:creationId xmlns:p14="http://schemas.microsoft.com/office/powerpoint/2010/main" val="260967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4E60B-363F-1214-59BA-0076A0464D2B}"/>
              </a:ext>
            </a:extLst>
          </p:cNvPr>
          <p:cNvSpPr>
            <a:spLocks noGrp="1"/>
          </p:cNvSpPr>
          <p:nvPr>
            <p:ph type="ctrTitle"/>
          </p:nvPr>
        </p:nvSpPr>
        <p:spPr/>
        <p:txBody>
          <a:bodyPr/>
          <a:lstStyle/>
          <a:p>
            <a:r>
              <a:rPr lang="en-US" dirty="0"/>
              <a:t>Threat Modeling</a:t>
            </a:r>
          </a:p>
        </p:txBody>
      </p:sp>
      <p:sp>
        <p:nvSpPr>
          <p:cNvPr id="3" name="Subtitle 2">
            <a:extLst>
              <a:ext uri="{FF2B5EF4-FFF2-40B4-BE49-F238E27FC236}">
                <a16:creationId xmlns:a16="http://schemas.microsoft.com/office/drawing/2014/main" id="{BDB7BFF5-BCF6-9CFC-1633-31427C23FB2C}"/>
              </a:ext>
            </a:extLst>
          </p:cNvPr>
          <p:cNvSpPr>
            <a:spLocks noGrp="1"/>
          </p:cNvSpPr>
          <p:nvPr>
            <p:ph type="subTitle" idx="1"/>
          </p:nvPr>
        </p:nvSpPr>
        <p:spPr/>
        <p:txBody>
          <a:bodyPr/>
          <a:lstStyle/>
          <a:p>
            <a:r>
              <a:rPr lang="en-US" dirty="0"/>
              <a:t>Cybersecurity internship</a:t>
            </a:r>
          </a:p>
          <a:p>
            <a:r>
              <a:rPr lang="en-US" dirty="0"/>
              <a:t>Week 6 – presentation 5</a:t>
            </a:r>
          </a:p>
          <a:p>
            <a:r>
              <a:rPr lang="en-US" dirty="0"/>
              <a:t>Intern: Assil </a:t>
            </a:r>
            <a:r>
              <a:rPr lang="en-US" dirty="0" err="1"/>
              <a:t>Bzal</a:t>
            </a:r>
            <a:endParaRPr lang="en-US" dirty="0"/>
          </a:p>
        </p:txBody>
      </p:sp>
      <p:pic>
        <p:nvPicPr>
          <p:cNvPr id="5" name="Picture 4" descr="A logo for a security company&#10;&#10;AI-generated content may be incorrect.">
            <a:extLst>
              <a:ext uri="{FF2B5EF4-FFF2-40B4-BE49-F238E27FC236}">
                <a16:creationId xmlns:a16="http://schemas.microsoft.com/office/drawing/2014/main" id="{0AE022A6-1DCE-2E2C-EA68-4B89C83584A7}"/>
              </a:ext>
            </a:extLst>
          </p:cNvPr>
          <p:cNvPicPr>
            <a:picLocks noChangeAspect="1"/>
          </p:cNvPicPr>
          <p:nvPr/>
        </p:nvPicPr>
        <p:blipFill>
          <a:blip r:embed="rId2"/>
          <a:stretch>
            <a:fillRect/>
          </a:stretch>
        </p:blipFill>
        <p:spPr>
          <a:xfrm>
            <a:off x="5187496" y="609599"/>
            <a:ext cx="1817007" cy="1817007"/>
          </a:xfrm>
          <a:prstGeom prst="rect">
            <a:avLst/>
          </a:prstGeom>
        </p:spPr>
      </p:pic>
    </p:spTree>
    <p:extLst>
      <p:ext uri="{BB962C8B-B14F-4D97-AF65-F5344CB8AC3E}">
        <p14:creationId xmlns:p14="http://schemas.microsoft.com/office/powerpoint/2010/main" val="2379211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177FB-2DC6-5B42-3495-DC9599BF2500}"/>
              </a:ext>
            </a:extLst>
          </p:cNvPr>
          <p:cNvSpPr>
            <a:spLocks noGrp="1"/>
          </p:cNvSpPr>
          <p:nvPr>
            <p:ph type="title"/>
          </p:nvPr>
        </p:nvSpPr>
        <p:spPr/>
        <p:txBody>
          <a:bodyPr/>
          <a:lstStyle/>
          <a:p>
            <a:r>
              <a:rPr lang="en-US" dirty="0"/>
              <a:t>Outline </a:t>
            </a:r>
          </a:p>
        </p:txBody>
      </p:sp>
      <p:sp>
        <p:nvSpPr>
          <p:cNvPr id="3" name="Content Placeholder 2">
            <a:extLst>
              <a:ext uri="{FF2B5EF4-FFF2-40B4-BE49-F238E27FC236}">
                <a16:creationId xmlns:a16="http://schemas.microsoft.com/office/drawing/2014/main" id="{124484B2-189E-FDF9-3EBA-02BE76426156}"/>
              </a:ext>
            </a:extLst>
          </p:cNvPr>
          <p:cNvSpPr>
            <a:spLocks noGrp="1"/>
          </p:cNvSpPr>
          <p:nvPr>
            <p:ph idx="1"/>
          </p:nvPr>
        </p:nvSpPr>
        <p:spPr/>
        <p:txBody>
          <a:bodyPr/>
          <a:lstStyle/>
          <a:p>
            <a:r>
              <a:rPr lang="en-US" dirty="0"/>
              <a:t>What is threat modeling </a:t>
            </a:r>
          </a:p>
          <a:p>
            <a:r>
              <a:rPr lang="en-US" dirty="0"/>
              <a:t>What is a data flow diagram </a:t>
            </a:r>
          </a:p>
          <a:p>
            <a:r>
              <a:rPr lang="en-US" dirty="0"/>
              <a:t>The different phases of threat modeling </a:t>
            </a:r>
          </a:p>
          <a:p>
            <a:r>
              <a:rPr lang="en-US" dirty="0"/>
              <a:t>Threat modeling focused approaches</a:t>
            </a:r>
          </a:p>
          <a:p>
            <a:r>
              <a:rPr lang="en-US" dirty="0"/>
              <a:t>Threat modeling framework </a:t>
            </a:r>
          </a:p>
          <a:p>
            <a:r>
              <a:rPr lang="en-US" dirty="0"/>
              <a:t>Prioritizing issues s</a:t>
            </a:r>
          </a:p>
        </p:txBody>
      </p:sp>
    </p:spTree>
    <p:extLst>
      <p:ext uri="{BB962C8B-B14F-4D97-AF65-F5344CB8AC3E}">
        <p14:creationId xmlns:p14="http://schemas.microsoft.com/office/powerpoint/2010/main" val="3073723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FEEAD-53FC-27E1-3B92-5A9CE0696F46}"/>
              </a:ext>
            </a:extLst>
          </p:cNvPr>
          <p:cNvSpPr>
            <a:spLocks noGrp="1"/>
          </p:cNvSpPr>
          <p:nvPr>
            <p:ph type="title"/>
          </p:nvPr>
        </p:nvSpPr>
        <p:spPr/>
        <p:txBody>
          <a:bodyPr/>
          <a:lstStyle/>
          <a:p>
            <a:r>
              <a:rPr lang="en-US" dirty="0"/>
              <a:t>My new car to launch on the market!!!</a:t>
            </a:r>
          </a:p>
        </p:txBody>
      </p:sp>
      <p:pic>
        <p:nvPicPr>
          <p:cNvPr id="1026" name="Picture 2" descr="Explore Jeep® Wrangler SUV | An Icon of Style | Jeep® UK">
            <a:extLst>
              <a:ext uri="{FF2B5EF4-FFF2-40B4-BE49-F238E27FC236}">
                <a16:creationId xmlns:a16="http://schemas.microsoft.com/office/drawing/2014/main" id="{1E5AA866-7C15-655A-C2F3-4865F3C36E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0" y="1690688"/>
            <a:ext cx="7175500" cy="4191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nfused Person Question Marks Stock Illustrations – 1,290 Confused Person  Question Marks Stock Illustrations, Vectors &amp; Clipart - Dreamstime">
            <a:extLst>
              <a:ext uri="{FF2B5EF4-FFF2-40B4-BE49-F238E27FC236}">
                <a16:creationId xmlns:a16="http://schemas.microsoft.com/office/drawing/2014/main" id="{C5FD89B7-C17A-4E5D-BDBB-59450E595A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846" y="4207554"/>
            <a:ext cx="1463448" cy="2070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738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fade">
                                      <p:cBhvr>
                                        <p:cTn id="7" dur="1000"/>
                                        <p:tgtEl>
                                          <p:spTgt spid="1030"/>
                                        </p:tgtEl>
                                      </p:cBhvr>
                                    </p:animEffect>
                                    <p:anim calcmode="lin" valueType="num">
                                      <p:cBhvr>
                                        <p:cTn id="8" dur="1000" fill="hold"/>
                                        <p:tgtEl>
                                          <p:spTgt spid="1030"/>
                                        </p:tgtEl>
                                        <p:attrNameLst>
                                          <p:attrName>ppt_x</p:attrName>
                                        </p:attrNameLst>
                                      </p:cBhvr>
                                      <p:tavLst>
                                        <p:tav tm="0">
                                          <p:val>
                                            <p:strVal val="#ppt_x"/>
                                          </p:val>
                                        </p:tav>
                                        <p:tav tm="100000">
                                          <p:val>
                                            <p:strVal val="#ppt_x"/>
                                          </p:val>
                                        </p:tav>
                                      </p:tavLst>
                                    </p:anim>
                                    <p:anim calcmode="lin" valueType="num">
                                      <p:cBhvr>
                                        <p:cTn id="9" dur="900" decel="100000" fill="hold"/>
                                        <p:tgtEl>
                                          <p:spTgt spid="103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03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776F0-4558-4A7F-80C3-97C97C4D93F9}"/>
              </a:ext>
            </a:extLst>
          </p:cNvPr>
          <p:cNvSpPr>
            <a:spLocks noGrp="1"/>
          </p:cNvSpPr>
          <p:nvPr>
            <p:ph type="title"/>
          </p:nvPr>
        </p:nvSpPr>
        <p:spPr/>
        <p:txBody>
          <a:bodyPr/>
          <a:lstStyle/>
          <a:p>
            <a:r>
              <a:rPr lang="en-US" dirty="0"/>
              <a:t>Threat modeling</a:t>
            </a:r>
          </a:p>
        </p:txBody>
      </p:sp>
      <p:sp>
        <p:nvSpPr>
          <p:cNvPr id="3" name="Content Placeholder 2">
            <a:extLst>
              <a:ext uri="{FF2B5EF4-FFF2-40B4-BE49-F238E27FC236}">
                <a16:creationId xmlns:a16="http://schemas.microsoft.com/office/drawing/2014/main" id="{24F41CAA-B122-3C19-DAF1-CF6625FEEC2D}"/>
              </a:ext>
            </a:extLst>
          </p:cNvPr>
          <p:cNvSpPr>
            <a:spLocks noGrp="1"/>
          </p:cNvSpPr>
          <p:nvPr>
            <p:ph idx="1"/>
          </p:nvPr>
        </p:nvSpPr>
        <p:spPr/>
        <p:txBody>
          <a:bodyPr/>
          <a:lstStyle/>
          <a:p>
            <a:r>
              <a:rPr lang="en-US" dirty="0"/>
              <a:t>Definition: It’s an effective technique to help you secure your systems, apps, networks and services. It helps you identify potential threats (Malicious update alters car software) and risk reduction strategies earlier in the development lifecycle. </a:t>
            </a:r>
          </a:p>
          <a:p>
            <a:r>
              <a:rPr lang="en-US" dirty="0"/>
              <a:t>How does it work ? </a:t>
            </a:r>
          </a:p>
          <a:p>
            <a:pPr marL="514350" indent="-514350">
              <a:buFont typeface="+mj-lt"/>
              <a:buAutoNum type="arabicPeriod"/>
            </a:pPr>
            <a:r>
              <a:rPr lang="en-US" dirty="0"/>
              <a:t>It uses a data flow diagram</a:t>
            </a:r>
          </a:p>
          <a:p>
            <a:pPr marL="514350" indent="-514350">
              <a:buFont typeface="+mj-lt"/>
              <a:buAutoNum type="arabicPeriod"/>
            </a:pPr>
            <a:r>
              <a:rPr lang="en-US" dirty="0"/>
              <a:t>Works in 4 different phases</a:t>
            </a:r>
          </a:p>
        </p:txBody>
      </p:sp>
    </p:spTree>
    <p:extLst>
      <p:ext uri="{BB962C8B-B14F-4D97-AF65-F5344CB8AC3E}">
        <p14:creationId xmlns:p14="http://schemas.microsoft.com/office/powerpoint/2010/main" val="3227333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E19DD-7345-729D-FF12-FFBB004FA5F5}"/>
              </a:ext>
            </a:extLst>
          </p:cNvPr>
          <p:cNvSpPr>
            <a:spLocks noGrp="1"/>
          </p:cNvSpPr>
          <p:nvPr>
            <p:ph type="title"/>
          </p:nvPr>
        </p:nvSpPr>
        <p:spPr/>
        <p:txBody>
          <a:bodyPr/>
          <a:lstStyle/>
          <a:p>
            <a:r>
              <a:rPr lang="en-US" dirty="0"/>
              <a:t>When do I threat model?</a:t>
            </a:r>
          </a:p>
        </p:txBody>
      </p:sp>
      <p:sp>
        <p:nvSpPr>
          <p:cNvPr id="3" name="Content Placeholder 2">
            <a:extLst>
              <a:ext uri="{FF2B5EF4-FFF2-40B4-BE49-F238E27FC236}">
                <a16:creationId xmlns:a16="http://schemas.microsoft.com/office/drawing/2014/main" id="{334992D6-918B-3CD3-1A3C-917189D85C85}"/>
              </a:ext>
            </a:extLst>
          </p:cNvPr>
          <p:cNvSpPr>
            <a:spLocks noGrp="1"/>
          </p:cNvSpPr>
          <p:nvPr>
            <p:ph idx="1"/>
          </p:nvPr>
        </p:nvSpPr>
        <p:spPr/>
        <p:txBody>
          <a:bodyPr/>
          <a:lstStyle/>
          <a:p>
            <a:r>
              <a:rPr lang="en-US" dirty="0"/>
              <a:t>Whenever I design a new system or update existing ones. </a:t>
            </a:r>
          </a:p>
          <a:p>
            <a:r>
              <a:rPr lang="en-US" dirty="0"/>
              <a:t>Ex: adding a new feature to an existing application </a:t>
            </a:r>
          </a:p>
          <a:p>
            <a:pPr marL="0" indent="0">
              <a:buNone/>
            </a:pPr>
            <a:r>
              <a:rPr lang="en-US" b="1" dirty="0"/>
              <a:t>Who can threat model?</a:t>
            </a:r>
          </a:p>
          <a:p>
            <a:pPr marL="0" indent="0">
              <a:buNone/>
            </a:pPr>
            <a:r>
              <a:rPr lang="en-US" dirty="0"/>
              <a:t>Anyone who knows about the system and has basic understanding of security. </a:t>
            </a:r>
          </a:p>
        </p:txBody>
      </p:sp>
    </p:spTree>
    <p:extLst>
      <p:ext uri="{BB962C8B-B14F-4D97-AF65-F5344CB8AC3E}">
        <p14:creationId xmlns:p14="http://schemas.microsoft.com/office/powerpoint/2010/main" val="1428940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854EB-18A2-D370-CC2E-C688DCBCF2E4}"/>
              </a:ext>
            </a:extLst>
          </p:cNvPr>
          <p:cNvSpPr>
            <a:spLocks noGrp="1"/>
          </p:cNvSpPr>
          <p:nvPr>
            <p:ph type="title"/>
          </p:nvPr>
        </p:nvSpPr>
        <p:spPr/>
        <p:txBody>
          <a:bodyPr/>
          <a:lstStyle/>
          <a:p>
            <a:r>
              <a:rPr lang="en-US" dirty="0"/>
              <a:t>Data Flow Diagram(DFD)</a:t>
            </a:r>
          </a:p>
        </p:txBody>
      </p:sp>
      <p:sp>
        <p:nvSpPr>
          <p:cNvPr id="3" name="Content Placeholder 2">
            <a:extLst>
              <a:ext uri="{FF2B5EF4-FFF2-40B4-BE49-F238E27FC236}">
                <a16:creationId xmlns:a16="http://schemas.microsoft.com/office/drawing/2014/main" id="{03654C04-5B5B-2575-F056-2D500AFDB438}"/>
              </a:ext>
            </a:extLst>
          </p:cNvPr>
          <p:cNvSpPr>
            <a:spLocks noGrp="1"/>
          </p:cNvSpPr>
          <p:nvPr>
            <p:ph idx="1"/>
          </p:nvPr>
        </p:nvSpPr>
        <p:spPr/>
        <p:txBody>
          <a:bodyPr/>
          <a:lstStyle/>
          <a:p>
            <a:r>
              <a:rPr lang="en-US" dirty="0"/>
              <a:t>Definition: A visual map of how data moves through an information system process.</a:t>
            </a:r>
          </a:p>
          <a:p>
            <a:r>
              <a:rPr lang="en-US" dirty="0"/>
              <a:t>This diagram contains different essential elements:</a:t>
            </a:r>
          </a:p>
          <a:p>
            <a:pPr marL="514350" indent="-514350">
              <a:buFont typeface="+mj-lt"/>
              <a:buAutoNum type="arabicPeriod"/>
            </a:pPr>
            <a:r>
              <a:rPr lang="en-US" dirty="0"/>
              <a:t>Process (.     )</a:t>
            </a:r>
          </a:p>
          <a:p>
            <a:pPr marL="514350" indent="-514350">
              <a:buFont typeface="+mj-lt"/>
              <a:buAutoNum type="arabicPeriod"/>
            </a:pPr>
            <a:r>
              <a:rPr lang="en-US" dirty="0"/>
              <a:t>Data store (        )</a:t>
            </a:r>
          </a:p>
          <a:p>
            <a:pPr marL="514350" indent="-514350">
              <a:buFont typeface="+mj-lt"/>
              <a:buAutoNum type="arabicPeriod"/>
            </a:pPr>
            <a:r>
              <a:rPr lang="en-US" dirty="0"/>
              <a:t>External Entity (.    )</a:t>
            </a:r>
          </a:p>
          <a:p>
            <a:pPr marL="514350" indent="-514350">
              <a:buFont typeface="+mj-lt"/>
              <a:buAutoNum type="arabicPeriod"/>
            </a:pPr>
            <a:r>
              <a:rPr lang="en-US" dirty="0"/>
              <a:t>Data Flow (        )</a:t>
            </a:r>
          </a:p>
          <a:p>
            <a:pPr marL="514350" indent="-514350">
              <a:buFont typeface="+mj-lt"/>
              <a:buAutoNum type="arabicPeriod"/>
            </a:pPr>
            <a:r>
              <a:rPr lang="en-US" dirty="0"/>
              <a:t>Trust boundary (line   , box.     )</a:t>
            </a:r>
          </a:p>
        </p:txBody>
      </p:sp>
      <p:sp>
        <p:nvSpPr>
          <p:cNvPr id="4" name="Oval 3">
            <a:extLst>
              <a:ext uri="{FF2B5EF4-FFF2-40B4-BE49-F238E27FC236}">
                <a16:creationId xmlns:a16="http://schemas.microsoft.com/office/drawing/2014/main" id="{2F1E8F45-B5A6-C3F3-4C0B-3E89CCF06C37}"/>
              </a:ext>
            </a:extLst>
          </p:cNvPr>
          <p:cNvSpPr/>
          <p:nvPr/>
        </p:nvSpPr>
        <p:spPr>
          <a:xfrm>
            <a:off x="2971800" y="3347357"/>
            <a:ext cx="302079" cy="2775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FCB5F702-BAEF-3267-C112-A68FBE36E912}"/>
              </a:ext>
            </a:extLst>
          </p:cNvPr>
          <p:cNvCxnSpPr/>
          <p:nvPr/>
        </p:nvCxnSpPr>
        <p:spPr>
          <a:xfrm>
            <a:off x="3273879" y="3869871"/>
            <a:ext cx="37555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7F6E47E-CF72-7A89-43C9-37588B0E02FA}"/>
              </a:ext>
            </a:extLst>
          </p:cNvPr>
          <p:cNvCxnSpPr/>
          <p:nvPr/>
        </p:nvCxnSpPr>
        <p:spPr>
          <a:xfrm>
            <a:off x="3273879" y="4095749"/>
            <a:ext cx="375557"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E317DE69-22F4-3F80-30DB-4C5796492850}"/>
              </a:ext>
            </a:extLst>
          </p:cNvPr>
          <p:cNvSpPr/>
          <p:nvPr/>
        </p:nvSpPr>
        <p:spPr>
          <a:xfrm>
            <a:off x="3878036" y="4359729"/>
            <a:ext cx="261257" cy="2612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405E382A-54C7-5208-C0A6-EC8795226543}"/>
              </a:ext>
            </a:extLst>
          </p:cNvPr>
          <p:cNvCxnSpPr/>
          <p:nvPr/>
        </p:nvCxnSpPr>
        <p:spPr>
          <a:xfrm>
            <a:off x="3216729" y="4874079"/>
            <a:ext cx="43270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16F779C-9684-73F7-561D-3298167567F1}"/>
              </a:ext>
            </a:extLst>
          </p:cNvPr>
          <p:cNvCxnSpPr/>
          <p:nvPr/>
        </p:nvCxnSpPr>
        <p:spPr>
          <a:xfrm flipH="1">
            <a:off x="3167743" y="5102679"/>
            <a:ext cx="4816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05B545DB-D64A-D9C3-02FE-4FBB855C3DF5}"/>
              </a:ext>
            </a:extLst>
          </p:cNvPr>
          <p:cNvCxnSpPr>
            <a:cxnSpLocks/>
          </p:cNvCxnSpPr>
          <p:nvPr/>
        </p:nvCxnSpPr>
        <p:spPr>
          <a:xfrm>
            <a:off x="4588329" y="5225143"/>
            <a:ext cx="0" cy="432707"/>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16805EDB-016F-71F3-AC2E-DCC281142C25}"/>
              </a:ext>
            </a:extLst>
          </p:cNvPr>
          <p:cNvCxnSpPr>
            <a:cxnSpLocks/>
          </p:cNvCxnSpPr>
          <p:nvPr/>
        </p:nvCxnSpPr>
        <p:spPr>
          <a:xfrm>
            <a:off x="5491844" y="5429250"/>
            <a:ext cx="0" cy="22860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01E9C0F3-5EAB-6B59-74EF-37948E9689FF}"/>
              </a:ext>
            </a:extLst>
          </p:cNvPr>
          <p:cNvCxnSpPr>
            <a:cxnSpLocks/>
          </p:cNvCxnSpPr>
          <p:nvPr/>
        </p:nvCxnSpPr>
        <p:spPr>
          <a:xfrm>
            <a:off x="5491844" y="5418364"/>
            <a:ext cx="28302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Connector 26">
            <a:extLst>
              <a:ext uri="{FF2B5EF4-FFF2-40B4-BE49-F238E27FC236}">
                <a16:creationId xmlns:a16="http://schemas.microsoft.com/office/drawing/2014/main" id="{80FEE047-110E-4657-A17D-EA6D86A3E9A1}"/>
              </a:ext>
            </a:extLst>
          </p:cNvPr>
          <p:cNvCxnSpPr>
            <a:cxnSpLocks/>
          </p:cNvCxnSpPr>
          <p:nvPr/>
        </p:nvCxnSpPr>
        <p:spPr>
          <a:xfrm>
            <a:off x="5774871" y="5429250"/>
            <a:ext cx="0" cy="22860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7C405C6A-7FFA-C366-1C80-C941E422F3EB}"/>
              </a:ext>
            </a:extLst>
          </p:cNvPr>
          <p:cNvCxnSpPr>
            <a:cxnSpLocks/>
          </p:cNvCxnSpPr>
          <p:nvPr/>
        </p:nvCxnSpPr>
        <p:spPr>
          <a:xfrm>
            <a:off x="5530933" y="5657850"/>
            <a:ext cx="243938"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062254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407DA-13D1-3715-B2D6-320491114B58}"/>
              </a:ext>
            </a:extLst>
          </p:cNvPr>
          <p:cNvSpPr>
            <a:spLocks noGrp="1"/>
          </p:cNvSpPr>
          <p:nvPr>
            <p:ph type="title"/>
          </p:nvPr>
        </p:nvSpPr>
        <p:spPr/>
        <p:txBody>
          <a:bodyPr/>
          <a:lstStyle/>
          <a:p>
            <a:r>
              <a:rPr lang="en-US" dirty="0"/>
              <a:t>Process</a:t>
            </a:r>
          </a:p>
        </p:txBody>
      </p:sp>
      <p:sp>
        <p:nvSpPr>
          <p:cNvPr id="3" name="Content Placeholder 2">
            <a:extLst>
              <a:ext uri="{FF2B5EF4-FFF2-40B4-BE49-F238E27FC236}">
                <a16:creationId xmlns:a16="http://schemas.microsoft.com/office/drawing/2014/main" id="{927ACCA4-01DE-F2DF-6B9E-C7B9B4936258}"/>
              </a:ext>
            </a:extLst>
          </p:cNvPr>
          <p:cNvSpPr>
            <a:spLocks noGrp="1"/>
          </p:cNvSpPr>
          <p:nvPr>
            <p:ph idx="1"/>
          </p:nvPr>
        </p:nvSpPr>
        <p:spPr/>
        <p:txBody>
          <a:bodyPr/>
          <a:lstStyle/>
          <a:p>
            <a:r>
              <a:rPr lang="en-US" dirty="0"/>
              <a:t>Represents activities that can modify or redirect received input to their proper outputs </a:t>
            </a:r>
          </a:p>
          <a:p>
            <a:r>
              <a:rPr lang="en-US" dirty="0"/>
              <a:t>We put it between data stores because processes handle all communication between data stores.</a:t>
            </a:r>
          </a:p>
          <a:p>
            <a:pPr marL="0" indent="0">
              <a:buNone/>
            </a:pPr>
            <a:endParaRPr lang="en-US" dirty="0"/>
          </a:p>
        </p:txBody>
      </p:sp>
      <p:sp>
        <p:nvSpPr>
          <p:cNvPr id="4" name="Oval 3">
            <a:extLst>
              <a:ext uri="{FF2B5EF4-FFF2-40B4-BE49-F238E27FC236}">
                <a16:creationId xmlns:a16="http://schemas.microsoft.com/office/drawing/2014/main" id="{90B0E11C-E418-D4E4-FEE8-01E683EBE29B}"/>
              </a:ext>
            </a:extLst>
          </p:cNvPr>
          <p:cNvSpPr/>
          <p:nvPr/>
        </p:nvSpPr>
        <p:spPr>
          <a:xfrm>
            <a:off x="5281961" y="4001294"/>
            <a:ext cx="1628078" cy="155001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3957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7CFB6-864E-4E60-7DA4-A9D63A1E50F5}"/>
              </a:ext>
            </a:extLst>
          </p:cNvPr>
          <p:cNvSpPr>
            <a:spLocks noGrp="1"/>
          </p:cNvSpPr>
          <p:nvPr>
            <p:ph type="title"/>
          </p:nvPr>
        </p:nvSpPr>
        <p:spPr/>
        <p:txBody>
          <a:bodyPr/>
          <a:lstStyle/>
          <a:p>
            <a:r>
              <a:rPr lang="en-US" dirty="0"/>
              <a:t>Data store (the storage element)</a:t>
            </a:r>
          </a:p>
        </p:txBody>
      </p:sp>
      <p:sp>
        <p:nvSpPr>
          <p:cNvPr id="3" name="Content Placeholder 2">
            <a:extLst>
              <a:ext uri="{FF2B5EF4-FFF2-40B4-BE49-F238E27FC236}">
                <a16:creationId xmlns:a16="http://schemas.microsoft.com/office/drawing/2014/main" id="{13BF1BBB-5BC4-E726-2BFD-B1C711841A88}"/>
              </a:ext>
            </a:extLst>
          </p:cNvPr>
          <p:cNvSpPr>
            <a:spLocks noGrp="1"/>
          </p:cNvSpPr>
          <p:nvPr>
            <p:ph idx="1"/>
          </p:nvPr>
        </p:nvSpPr>
        <p:spPr/>
        <p:txBody>
          <a:bodyPr/>
          <a:lstStyle/>
          <a:p>
            <a:r>
              <a:rPr lang="en-US" dirty="0"/>
              <a:t>Stores on a temporary or permanent basis </a:t>
            </a:r>
          </a:p>
          <a:p>
            <a:r>
              <a:rPr lang="en-US" dirty="0"/>
              <a:t>When to use it?</a:t>
            </a:r>
          </a:p>
          <a:p>
            <a:pPr marL="514350" indent="-514350">
              <a:buFont typeface="+mj-lt"/>
              <a:buAutoNum type="arabicPeriod"/>
            </a:pPr>
            <a:r>
              <a:rPr lang="en-US" dirty="0"/>
              <a:t>Storing data</a:t>
            </a:r>
          </a:p>
          <a:p>
            <a:pPr marL="514350" indent="-514350">
              <a:buFont typeface="+mj-lt"/>
              <a:buAutoNum type="arabicPeriod"/>
            </a:pPr>
            <a:r>
              <a:rPr lang="en-US" dirty="0"/>
              <a:t>Communication between 2 data stores(process in between)</a:t>
            </a:r>
          </a:p>
          <a:p>
            <a:pPr marL="514350" indent="-514350">
              <a:buFont typeface="+mj-lt"/>
              <a:buAutoNum type="arabicPeriod"/>
            </a:pPr>
            <a:r>
              <a:rPr lang="en-US" dirty="0"/>
              <a:t>Data store + external entity = data flow </a:t>
            </a:r>
          </a:p>
          <a:p>
            <a:pPr marL="514350" indent="-514350">
              <a:buFont typeface="+mj-lt"/>
              <a:buAutoNum type="arabicPeriod"/>
            </a:pPr>
            <a:r>
              <a:rPr lang="en-US" dirty="0"/>
              <a:t>Include post-processing of data</a:t>
            </a:r>
          </a:p>
          <a:p>
            <a:pPr marL="0" indent="0">
              <a:buNone/>
            </a:pPr>
            <a:endParaRPr lang="en-US" dirty="0"/>
          </a:p>
        </p:txBody>
      </p:sp>
      <p:cxnSp>
        <p:nvCxnSpPr>
          <p:cNvPr id="5" name="Straight Connector 4">
            <a:extLst>
              <a:ext uri="{FF2B5EF4-FFF2-40B4-BE49-F238E27FC236}">
                <a16:creationId xmlns:a16="http://schemas.microsoft.com/office/drawing/2014/main" id="{29D4E399-3826-CC03-ECD4-5EB8FC18287D}"/>
              </a:ext>
            </a:extLst>
          </p:cNvPr>
          <p:cNvCxnSpPr/>
          <p:nvPr/>
        </p:nvCxnSpPr>
        <p:spPr>
          <a:xfrm>
            <a:off x="8965581" y="691377"/>
            <a:ext cx="175817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67EF97F-B5AE-DBA7-5005-96D48F4E665B}"/>
              </a:ext>
            </a:extLst>
          </p:cNvPr>
          <p:cNvCxnSpPr/>
          <p:nvPr/>
        </p:nvCxnSpPr>
        <p:spPr>
          <a:xfrm>
            <a:off x="8965581" y="1423640"/>
            <a:ext cx="175817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1184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53AB1-063B-3C95-89B4-AA593B8B7A66}"/>
              </a:ext>
            </a:extLst>
          </p:cNvPr>
          <p:cNvSpPr>
            <a:spLocks noGrp="1"/>
          </p:cNvSpPr>
          <p:nvPr>
            <p:ph type="title"/>
          </p:nvPr>
        </p:nvSpPr>
        <p:spPr/>
        <p:txBody>
          <a:bodyPr/>
          <a:lstStyle/>
          <a:p>
            <a:r>
              <a:rPr lang="en-US" dirty="0"/>
              <a:t>External entity (no control element)</a:t>
            </a:r>
          </a:p>
        </p:txBody>
      </p:sp>
      <p:sp>
        <p:nvSpPr>
          <p:cNvPr id="3" name="Content Placeholder 2">
            <a:extLst>
              <a:ext uri="{FF2B5EF4-FFF2-40B4-BE49-F238E27FC236}">
                <a16:creationId xmlns:a16="http://schemas.microsoft.com/office/drawing/2014/main" id="{17FB6257-CD4E-EFC8-58BD-75E0FA18A302}"/>
              </a:ext>
            </a:extLst>
          </p:cNvPr>
          <p:cNvSpPr>
            <a:spLocks noGrp="1"/>
          </p:cNvSpPr>
          <p:nvPr>
            <p:ph idx="1"/>
          </p:nvPr>
        </p:nvSpPr>
        <p:spPr/>
        <p:txBody>
          <a:bodyPr/>
          <a:lstStyle/>
          <a:p>
            <a:r>
              <a:rPr lang="en-US" dirty="0"/>
              <a:t>It could be anything : process, data store, full-fledged system outside of your direct control.</a:t>
            </a:r>
          </a:p>
          <a:p>
            <a:r>
              <a:rPr lang="en-US" dirty="0"/>
              <a:t>When to use it? </a:t>
            </a:r>
          </a:p>
          <a:p>
            <a:pPr marL="514350" indent="-514350">
              <a:buFont typeface="+mj-lt"/>
              <a:buAutoNum type="arabicPeriod"/>
            </a:pPr>
            <a:r>
              <a:rPr lang="en-US" dirty="0"/>
              <a:t>When representing an entity that you can’t directly modify</a:t>
            </a:r>
          </a:p>
        </p:txBody>
      </p:sp>
      <p:sp>
        <p:nvSpPr>
          <p:cNvPr id="4" name="Rectangle 3">
            <a:extLst>
              <a:ext uri="{FF2B5EF4-FFF2-40B4-BE49-F238E27FC236}">
                <a16:creationId xmlns:a16="http://schemas.microsoft.com/office/drawing/2014/main" id="{1C65C5B8-3F55-CF03-10E7-B1FADE20F389}"/>
              </a:ext>
            </a:extLst>
          </p:cNvPr>
          <p:cNvSpPr/>
          <p:nvPr/>
        </p:nvSpPr>
        <p:spPr>
          <a:xfrm>
            <a:off x="9355873" y="546410"/>
            <a:ext cx="925551" cy="8474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4598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478F1-548B-6165-BA58-A5AA5AE65F59}"/>
              </a:ext>
            </a:extLst>
          </p:cNvPr>
          <p:cNvSpPr>
            <a:spLocks noGrp="1"/>
          </p:cNvSpPr>
          <p:nvPr>
            <p:ph type="title"/>
          </p:nvPr>
        </p:nvSpPr>
        <p:spPr/>
        <p:txBody>
          <a:bodyPr/>
          <a:lstStyle/>
          <a:p>
            <a:r>
              <a:rPr lang="en-US" dirty="0"/>
              <a:t>Data flow </a:t>
            </a:r>
          </a:p>
        </p:txBody>
      </p:sp>
      <p:sp>
        <p:nvSpPr>
          <p:cNvPr id="3" name="Content Placeholder 2">
            <a:extLst>
              <a:ext uri="{FF2B5EF4-FFF2-40B4-BE49-F238E27FC236}">
                <a16:creationId xmlns:a16="http://schemas.microsoft.com/office/drawing/2014/main" id="{A3CA7FE9-4255-830A-1928-8F36272B8651}"/>
              </a:ext>
            </a:extLst>
          </p:cNvPr>
          <p:cNvSpPr>
            <a:spLocks noGrp="1"/>
          </p:cNvSpPr>
          <p:nvPr>
            <p:ph idx="1"/>
          </p:nvPr>
        </p:nvSpPr>
        <p:spPr/>
        <p:txBody>
          <a:bodyPr/>
          <a:lstStyle/>
          <a:p>
            <a:r>
              <a:rPr lang="en-US" dirty="0"/>
              <a:t>Data flow between elements </a:t>
            </a:r>
          </a:p>
          <a:p>
            <a:r>
              <a:rPr lang="en-US" dirty="0"/>
              <a:t>Communication between data source and destination </a:t>
            </a:r>
          </a:p>
          <a:p>
            <a:r>
              <a:rPr lang="en-US" dirty="0"/>
              <a:t>When to use it? </a:t>
            </a:r>
          </a:p>
          <a:p>
            <a:pPr marL="514350" indent="-514350">
              <a:buFont typeface="+mj-lt"/>
              <a:buAutoNum type="arabicPeriod"/>
            </a:pPr>
            <a:r>
              <a:rPr lang="en-US" dirty="0"/>
              <a:t>When showing how data moves between processes or entities</a:t>
            </a:r>
          </a:p>
          <a:p>
            <a:pPr marL="0" indent="0">
              <a:buNone/>
            </a:pPr>
            <a:endParaRPr lang="en-US" dirty="0"/>
          </a:p>
        </p:txBody>
      </p:sp>
      <p:cxnSp>
        <p:nvCxnSpPr>
          <p:cNvPr id="5" name="Straight Arrow Connector 4">
            <a:extLst>
              <a:ext uri="{FF2B5EF4-FFF2-40B4-BE49-F238E27FC236}">
                <a16:creationId xmlns:a16="http://schemas.microsoft.com/office/drawing/2014/main" id="{4E21AABD-BD70-8A19-B61C-86D47C565A63}"/>
              </a:ext>
            </a:extLst>
          </p:cNvPr>
          <p:cNvCxnSpPr/>
          <p:nvPr/>
        </p:nvCxnSpPr>
        <p:spPr>
          <a:xfrm>
            <a:off x="3925229" y="646771"/>
            <a:ext cx="657922" cy="5575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BCA974E5-DB5C-07F9-2043-EA88F57530FA}"/>
              </a:ext>
            </a:extLst>
          </p:cNvPr>
          <p:cNvCxnSpPr/>
          <p:nvPr/>
        </p:nvCxnSpPr>
        <p:spPr>
          <a:xfrm flipH="1" flipV="1">
            <a:off x="4070195" y="535259"/>
            <a:ext cx="780585" cy="6133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3883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0C40F-A3DA-2FF8-7770-DB43B68D43E5}"/>
              </a:ext>
            </a:extLst>
          </p:cNvPr>
          <p:cNvSpPr>
            <a:spLocks noGrp="1"/>
          </p:cNvSpPr>
          <p:nvPr>
            <p:ph type="title"/>
          </p:nvPr>
        </p:nvSpPr>
        <p:spPr/>
        <p:txBody>
          <a:bodyPr/>
          <a:lstStyle/>
          <a:p>
            <a:r>
              <a:rPr lang="en-US" dirty="0"/>
              <a:t>Trust boundary</a:t>
            </a:r>
          </a:p>
        </p:txBody>
      </p:sp>
      <p:sp>
        <p:nvSpPr>
          <p:cNvPr id="3" name="Content Placeholder 2">
            <a:extLst>
              <a:ext uri="{FF2B5EF4-FFF2-40B4-BE49-F238E27FC236}">
                <a16:creationId xmlns:a16="http://schemas.microsoft.com/office/drawing/2014/main" id="{0743E21D-3836-3874-A8BC-78706AE71419}"/>
              </a:ext>
            </a:extLst>
          </p:cNvPr>
          <p:cNvSpPr>
            <a:spLocks noGrp="1"/>
          </p:cNvSpPr>
          <p:nvPr>
            <p:ph idx="1"/>
          </p:nvPr>
        </p:nvSpPr>
        <p:spPr/>
        <p:txBody>
          <a:bodyPr/>
          <a:lstStyle/>
          <a:p>
            <a:r>
              <a:rPr lang="en-US" dirty="0"/>
              <a:t>Represented when data crosses different trust zone levels </a:t>
            </a:r>
          </a:p>
          <a:p>
            <a:r>
              <a:rPr lang="en-US" dirty="0"/>
              <a:t>Ex: firewalls, connections to third party services</a:t>
            </a:r>
          </a:p>
          <a:p>
            <a:r>
              <a:rPr lang="en-US" dirty="0"/>
              <a:t>Areas with changing trust zones are most attacked -&gt; they should be carefully designed.</a:t>
            </a:r>
          </a:p>
          <a:p>
            <a:r>
              <a:rPr lang="en-US" dirty="0"/>
              <a:t>When to use it? </a:t>
            </a:r>
          </a:p>
          <a:p>
            <a:pPr marL="514350" indent="-514350">
              <a:buFont typeface="+mj-lt"/>
              <a:buAutoNum type="arabicPeriod"/>
            </a:pPr>
            <a:r>
              <a:rPr lang="en-US" dirty="0"/>
              <a:t>Line : large environments (internet)</a:t>
            </a:r>
          </a:p>
          <a:p>
            <a:pPr marL="514350" indent="-514350">
              <a:buFont typeface="+mj-lt"/>
              <a:buAutoNum type="arabicPeriod"/>
            </a:pPr>
            <a:r>
              <a:rPr lang="en-US" dirty="0"/>
              <a:t>Box: small environment</a:t>
            </a:r>
          </a:p>
          <a:p>
            <a:pPr marL="514350" indent="-514350">
              <a:buFont typeface="+mj-lt"/>
              <a:buAutoNum type="arabicPeriod"/>
            </a:pPr>
            <a:endParaRPr lang="en-US" dirty="0"/>
          </a:p>
        </p:txBody>
      </p:sp>
    </p:spTree>
    <p:extLst>
      <p:ext uri="{BB962C8B-B14F-4D97-AF65-F5344CB8AC3E}">
        <p14:creationId xmlns:p14="http://schemas.microsoft.com/office/powerpoint/2010/main" val="2905625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06CA9-8918-4FC5-F83A-28A9F7E02EE8}"/>
              </a:ext>
            </a:extLst>
          </p:cNvPr>
          <p:cNvSpPr>
            <a:spLocks noGrp="1"/>
          </p:cNvSpPr>
          <p:nvPr>
            <p:ph type="title"/>
          </p:nvPr>
        </p:nvSpPr>
        <p:spPr/>
        <p:txBody>
          <a:bodyPr/>
          <a:lstStyle/>
          <a:p>
            <a:r>
              <a:rPr lang="en-US" dirty="0"/>
              <a:t>DFD depth layers</a:t>
            </a:r>
          </a:p>
        </p:txBody>
      </p:sp>
      <p:sp>
        <p:nvSpPr>
          <p:cNvPr id="3" name="Content Placeholder 2">
            <a:extLst>
              <a:ext uri="{FF2B5EF4-FFF2-40B4-BE49-F238E27FC236}">
                <a16:creationId xmlns:a16="http://schemas.microsoft.com/office/drawing/2014/main" id="{22B5C18D-0678-0B9A-2FC3-5860930F85B2}"/>
              </a:ext>
            </a:extLst>
          </p:cNvPr>
          <p:cNvSpPr>
            <a:spLocks noGrp="1"/>
          </p:cNvSpPr>
          <p:nvPr>
            <p:ph idx="1"/>
          </p:nvPr>
        </p:nvSpPr>
        <p:spPr/>
        <p:txBody>
          <a:bodyPr/>
          <a:lstStyle/>
          <a:p>
            <a:r>
              <a:rPr lang="en-US" dirty="0"/>
              <a:t>It can help decide how much context to include for a successful threat-modeling exercise. </a:t>
            </a:r>
          </a:p>
          <a:p>
            <a:r>
              <a:rPr lang="en-US" dirty="0"/>
              <a:t>At high level, there are 4 depth layers used in threat modeling :</a:t>
            </a:r>
          </a:p>
          <a:p>
            <a:pPr marL="0" indent="0">
              <a:buNone/>
            </a:pPr>
            <a:r>
              <a:rPr lang="en-US" dirty="0"/>
              <a:t>0. required for all systems, contains major system parts </a:t>
            </a:r>
          </a:p>
          <a:p>
            <a:pPr marL="514350" indent="-514350">
              <a:buAutoNum type="arabicPeriod"/>
            </a:pPr>
            <a:r>
              <a:rPr lang="en-US" dirty="0"/>
              <a:t>Diagrams for each system part</a:t>
            </a:r>
          </a:p>
          <a:p>
            <a:pPr marL="514350" indent="-514350">
              <a:buAutoNum type="arabicPeriod"/>
            </a:pPr>
            <a:r>
              <a:rPr lang="en-US" dirty="0"/>
              <a:t>Highly sensitive systems, diagrams for system subparts</a:t>
            </a:r>
          </a:p>
          <a:p>
            <a:pPr marL="514350" indent="-514350">
              <a:buAutoNum type="arabicPeriod"/>
            </a:pPr>
            <a:r>
              <a:rPr lang="en-US" dirty="0"/>
              <a:t>Critical or kernel level systems, diagrams for every process</a:t>
            </a:r>
          </a:p>
        </p:txBody>
      </p:sp>
    </p:spTree>
    <p:extLst>
      <p:ext uri="{BB962C8B-B14F-4D97-AF65-F5344CB8AC3E}">
        <p14:creationId xmlns:p14="http://schemas.microsoft.com/office/powerpoint/2010/main" val="2944103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E0540-7DDC-42E8-43AC-CB11974EF719}"/>
              </a:ext>
            </a:extLst>
          </p:cNvPr>
          <p:cNvSpPr>
            <a:spLocks noGrp="1"/>
          </p:cNvSpPr>
          <p:nvPr>
            <p:ph type="title"/>
          </p:nvPr>
        </p:nvSpPr>
        <p:spPr/>
        <p:txBody>
          <a:bodyPr/>
          <a:lstStyle/>
          <a:p>
            <a:r>
              <a:rPr lang="en-US" dirty="0"/>
              <a:t>Layer 0 – The system layer</a:t>
            </a:r>
          </a:p>
        </p:txBody>
      </p:sp>
      <p:sp>
        <p:nvSpPr>
          <p:cNvPr id="3" name="Content Placeholder 2">
            <a:extLst>
              <a:ext uri="{FF2B5EF4-FFF2-40B4-BE49-F238E27FC236}">
                <a16:creationId xmlns:a16="http://schemas.microsoft.com/office/drawing/2014/main" id="{4AF915A7-F955-94E4-AF1E-D60907ED3D1B}"/>
              </a:ext>
            </a:extLst>
          </p:cNvPr>
          <p:cNvSpPr>
            <a:spLocks noGrp="1"/>
          </p:cNvSpPr>
          <p:nvPr>
            <p:ph idx="1"/>
          </p:nvPr>
        </p:nvSpPr>
        <p:spPr/>
        <p:txBody>
          <a:bodyPr/>
          <a:lstStyle/>
          <a:p>
            <a:r>
              <a:rPr lang="en-US" dirty="0"/>
              <a:t>The starting point for any system </a:t>
            </a:r>
          </a:p>
          <a:p>
            <a:r>
              <a:rPr lang="en-US" dirty="0"/>
              <a:t>Goal: Represent major system parts with enough context to help understand how they work and interact with each other</a:t>
            </a:r>
          </a:p>
          <a:p>
            <a:r>
              <a:rPr lang="en-US" dirty="0"/>
              <a:t>DFD should fit in a single page </a:t>
            </a:r>
          </a:p>
          <a:p>
            <a:r>
              <a:rPr lang="en-US" dirty="0"/>
              <a:t>DFD </a:t>
            </a:r>
            <a:r>
              <a:rPr lang="en-US" dirty="0">
                <a:sym typeface="Wingdings" pitchFamily="2" charset="2"/>
              </a:rPr>
              <a:t> only major processes + enough context </a:t>
            </a:r>
          </a:p>
          <a:p>
            <a:pPr marL="0" indent="0">
              <a:buNone/>
            </a:pPr>
            <a:endParaRPr lang="en-US" dirty="0"/>
          </a:p>
        </p:txBody>
      </p:sp>
    </p:spTree>
    <p:extLst>
      <p:ext uri="{BB962C8B-B14F-4D97-AF65-F5344CB8AC3E}">
        <p14:creationId xmlns:p14="http://schemas.microsoft.com/office/powerpoint/2010/main" val="2744317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A2716-1D03-8172-AF4C-0C6427397FF9}"/>
              </a:ext>
            </a:extLst>
          </p:cNvPr>
          <p:cNvSpPr>
            <a:spLocks noGrp="1"/>
          </p:cNvSpPr>
          <p:nvPr>
            <p:ph type="title"/>
          </p:nvPr>
        </p:nvSpPr>
        <p:spPr/>
        <p:txBody>
          <a:bodyPr/>
          <a:lstStyle/>
          <a:p>
            <a:r>
              <a:rPr lang="en-US" dirty="0"/>
              <a:t>Layer 1 – The process layer </a:t>
            </a:r>
          </a:p>
        </p:txBody>
      </p:sp>
      <p:sp>
        <p:nvSpPr>
          <p:cNvPr id="3" name="Content Placeholder 2">
            <a:extLst>
              <a:ext uri="{FF2B5EF4-FFF2-40B4-BE49-F238E27FC236}">
                <a16:creationId xmlns:a16="http://schemas.microsoft.com/office/drawing/2014/main" id="{52D9836E-EE5C-6285-3A60-0818730FB334}"/>
              </a:ext>
            </a:extLst>
          </p:cNvPr>
          <p:cNvSpPr>
            <a:spLocks noGrp="1"/>
          </p:cNvSpPr>
          <p:nvPr>
            <p:ph idx="1"/>
          </p:nvPr>
        </p:nvSpPr>
        <p:spPr/>
        <p:txBody>
          <a:bodyPr/>
          <a:lstStyle/>
          <a:p>
            <a:r>
              <a:rPr lang="en-US" dirty="0"/>
              <a:t>DFD detailing each system part </a:t>
            </a:r>
          </a:p>
          <a:p>
            <a:r>
              <a:rPr lang="en-US" dirty="0"/>
              <a:t>Goal: represent secondary system parts with enough context to help you understand how they work and interact with each other </a:t>
            </a:r>
          </a:p>
          <a:p>
            <a:r>
              <a:rPr lang="en-US" dirty="0"/>
              <a:t>We use it if we’re handling sensitive data</a:t>
            </a:r>
          </a:p>
          <a:p>
            <a:pPr marL="0" indent="0">
              <a:buNone/>
            </a:pPr>
            <a:endParaRPr lang="en-US" dirty="0"/>
          </a:p>
        </p:txBody>
      </p:sp>
    </p:spTree>
    <p:extLst>
      <p:ext uri="{BB962C8B-B14F-4D97-AF65-F5344CB8AC3E}">
        <p14:creationId xmlns:p14="http://schemas.microsoft.com/office/powerpoint/2010/main" val="3935338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50D24-B102-C201-2C30-41748155F0BD}"/>
              </a:ext>
            </a:extLst>
          </p:cNvPr>
          <p:cNvSpPr>
            <a:spLocks noGrp="1"/>
          </p:cNvSpPr>
          <p:nvPr>
            <p:ph type="title"/>
          </p:nvPr>
        </p:nvSpPr>
        <p:spPr/>
        <p:txBody>
          <a:bodyPr/>
          <a:lstStyle/>
          <a:p>
            <a:r>
              <a:rPr lang="en-US" dirty="0"/>
              <a:t>Layer 2  - The subprocess layer</a:t>
            </a:r>
          </a:p>
        </p:txBody>
      </p:sp>
      <p:sp>
        <p:nvSpPr>
          <p:cNvPr id="3" name="Content Placeholder 2">
            <a:extLst>
              <a:ext uri="{FF2B5EF4-FFF2-40B4-BE49-F238E27FC236}">
                <a16:creationId xmlns:a16="http://schemas.microsoft.com/office/drawing/2014/main" id="{2F9A79DE-6DC6-1D62-E782-86B90E711D62}"/>
              </a:ext>
            </a:extLst>
          </p:cNvPr>
          <p:cNvSpPr>
            <a:spLocks noGrp="1"/>
          </p:cNvSpPr>
          <p:nvPr>
            <p:ph idx="1"/>
          </p:nvPr>
        </p:nvSpPr>
        <p:spPr/>
        <p:txBody>
          <a:bodyPr/>
          <a:lstStyle/>
          <a:p>
            <a:r>
              <a:rPr lang="en-US" dirty="0"/>
              <a:t>Goal: represent system subparts with enough context to help understand how they work and interact with each other </a:t>
            </a:r>
          </a:p>
          <a:p>
            <a:r>
              <a:rPr lang="en-US" dirty="0"/>
              <a:t>We use it for systems the organization considers critical</a:t>
            </a:r>
          </a:p>
          <a:p>
            <a:pPr marL="0" indent="0">
              <a:buNone/>
            </a:pPr>
            <a:endParaRPr lang="en-US" dirty="0"/>
          </a:p>
        </p:txBody>
      </p:sp>
    </p:spTree>
    <p:extLst>
      <p:ext uri="{BB962C8B-B14F-4D97-AF65-F5344CB8AC3E}">
        <p14:creationId xmlns:p14="http://schemas.microsoft.com/office/powerpoint/2010/main" val="1961224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FA900-439A-15CD-DAF9-6887CCF5B464}"/>
              </a:ext>
            </a:extLst>
          </p:cNvPr>
          <p:cNvSpPr>
            <a:spLocks noGrp="1"/>
          </p:cNvSpPr>
          <p:nvPr>
            <p:ph type="title"/>
          </p:nvPr>
        </p:nvSpPr>
        <p:spPr/>
        <p:txBody>
          <a:bodyPr/>
          <a:lstStyle/>
          <a:p>
            <a:r>
              <a:rPr lang="en-US" dirty="0"/>
              <a:t>Layer 3 – The lower – level layer</a:t>
            </a:r>
          </a:p>
        </p:txBody>
      </p:sp>
      <p:sp>
        <p:nvSpPr>
          <p:cNvPr id="3" name="Content Placeholder 2">
            <a:extLst>
              <a:ext uri="{FF2B5EF4-FFF2-40B4-BE49-F238E27FC236}">
                <a16:creationId xmlns:a16="http://schemas.microsoft.com/office/drawing/2014/main" id="{0F7B1274-FBB5-77CC-8BB6-453645E54CD6}"/>
              </a:ext>
            </a:extLst>
          </p:cNvPr>
          <p:cNvSpPr>
            <a:spLocks noGrp="1"/>
          </p:cNvSpPr>
          <p:nvPr>
            <p:ph idx="1"/>
          </p:nvPr>
        </p:nvSpPr>
        <p:spPr/>
        <p:txBody>
          <a:bodyPr/>
          <a:lstStyle/>
          <a:p>
            <a:r>
              <a:rPr lang="en-US" dirty="0"/>
              <a:t>Kernel level or critical level system</a:t>
            </a:r>
          </a:p>
          <a:p>
            <a:r>
              <a:rPr lang="en-US" dirty="0"/>
              <a:t>DFDs </a:t>
            </a:r>
            <a:r>
              <a:rPr lang="en-US" dirty="0" err="1"/>
              <a:t>detaling</a:t>
            </a:r>
            <a:r>
              <a:rPr lang="en-US" dirty="0"/>
              <a:t> each low-level system part</a:t>
            </a:r>
          </a:p>
          <a:p>
            <a:r>
              <a:rPr lang="en-US" dirty="0"/>
              <a:t>Goal: represent low-level system subparts with enough context to help you understand how they work and interact with each other </a:t>
            </a:r>
          </a:p>
        </p:txBody>
      </p:sp>
    </p:spTree>
    <p:extLst>
      <p:ext uri="{BB962C8B-B14F-4D97-AF65-F5344CB8AC3E}">
        <p14:creationId xmlns:p14="http://schemas.microsoft.com/office/powerpoint/2010/main" val="250855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894BC-4083-38A9-517C-AB4E3FA4C7DA}"/>
              </a:ext>
            </a:extLst>
          </p:cNvPr>
          <p:cNvSpPr>
            <a:spLocks noGrp="1"/>
          </p:cNvSpPr>
          <p:nvPr>
            <p:ph type="title"/>
          </p:nvPr>
        </p:nvSpPr>
        <p:spPr/>
        <p:txBody>
          <a:bodyPr/>
          <a:lstStyle/>
          <a:p>
            <a:r>
              <a:rPr lang="en-US" dirty="0"/>
              <a:t>Threat modeling phases</a:t>
            </a:r>
          </a:p>
        </p:txBody>
      </p:sp>
      <p:sp>
        <p:nvSpPr>
          <p:cNvPr id="3" name="Content Placeholder 2">
            <a:extLst>
              <a:ext uri="{FF2B5EF4-FFF2-40B4-BE49-F238E27FC236}">
                <a16:creationId xmlns:a16="http://schemas.microsoft.com/office/drawing/2014/main" id="{7B195C04-FE48-75E4-A820-61E7ABADABF5}"/>
              </a:ext>
            </a:extLst>
          </p:cNvPr>
          <p:cNvSpPr>
            <a:spLocks noGrp="1"/>
          </p:cNvSpPr>
          <p:nvPr>
            <p:ph idx="1"/>
          </p:nvPr>
        </p:nvSpPr>
        <p:spPr/>
        <p:txBody>
          <a:bodyPr/>
          <a:lstStyle/>
          <a:p>
            <a:r>
              <a:rPr lang="en-US" dirty="0"/>
              <a:t>The technique is broken down into 4 phases:</a:t>
            </a:r>
          </a:p>
          <a:p>
            <a:pPr marL="514350" indent="-514350">
              <a:buFont typeface="+mj-lt"/>
              <a:buAutoNum type="arabicPeriod"/>
            </a:pPr>
            <a:r>
              <a:rPr lang="en-US" dirty="0"/>
              <a:t>Design </a:t>
            </a:r>
          </a:p>
          <a:p>
            <a:pPr marL="514350" indent="-514350">
              <a:buFont typeface="+mj-lt"/>
              <a:buAutoNum type="arabicPeriod"/>
            </a:pPr>
            <a:r>
              <a:rPr lang="en-US" dirty="0"/>
              <a:t>Break</a:t>
            </a:r>
          </a:p>
          <a:p>
            <a:pPr marL="514350" indent="-514350">
              <a:buFont typeface="+mj-lt"/>
              <a:buAutoNum type="arabicPeriod"/>
            </a:pPr>
            <a:r>
              <a:rPr lang="en-US" dirty="0"/>
              <a:t>Fix</a:t>
            </a:r>
          </a:p>
          <a:p>
            <a:pPr marL="514350" indent="-514350">
              <a:buFont typeface="+mj-lt"/>
              <a:buAutoNum type="arabicPeriod"/>
            </a:pPr>
            <a:r>
              <a:rPr lang="en-US" dirty="0"/>
              <a:t>Verify </a:t>
            </a:r>
          </a:p>
        </p:txBody>
      </p:sp>
    </p:spTree>
    <p:extLst>
      <p:ext uri="{BB962C8B-B14F-4D97-AF65-F5344CB8AC3E}">
        <p14:creationId xmlns:p14="http://schemas.microsoft.com/office/powerpoint/2010/main" val="3593027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57D6-35C4-5887-F1F4-B0BF89E32F3C}"/>
              </a:ext>
            </a:extLst>
          </p:cNvPr>
          <p:cNvSpPr>
            <a:spLocks noGrp="1"/>
          </p:cNvSpPr>
          <p:nvPr>
            <p:ph type="title"/>
          </p:nvPr>
        </p:nvSpPr>
        <p:spPr/>
        <p:txBody>
          <a:bodyPr/>
          <a:lstStyle/>
          <a:p>
            <a:r>
              <a:rPr lang="en-US" dirty="0"/>
              <a:t>Step1 : design</a:t>
            </a:r>
          </a:p>
        </p:txBody>
      </p:sp>
      <p:sp>
        <p:nvSpPr>
          <p:cNvPr id="3" name="Content Placeholder 2">
            <a:extLst>
              <a:ext uri="{FF2B5EF4-FFF2-40B4-BE49-F238E27FC236}">
                <a16:creationId xmlns:a16="http://schemas.microsoft.com/office/drawing/2014/main" id="{F9CE9E93-CD96-A406-D055-98A9A8463D36}"/>
              </a:ext>
            </a:extLst>
          </p:cNvPr>
          <p:cNvSpPr>
            <a:spLocks noGrp="1"/>
          </p:cNvSpPr>
          <p:nvPr>
            <p:ph idx="1"/>
          </p:nvPr>
        </p:nvSpPr>
        <p:spPr/>
        <p:txBody>
          <a:bodyPr/>
          <a:lstStyle/>
          <a:p>
            <a:r>
              <a:rPr lang="en-US" dirty="0"/>
              <a:t>It is the starting ground for your threat modeling activities. We should gather as much data as possible about what we’re building and what we’re using to build it.</a:t>
            </a:r>
          </a:p>
          <a:p>
            <a:r>
              <a:rPr lang="en-US" dirty="0"/>
              <a:t>The goals of this phase: </a:t>
            </a:r>
          </a:p>
          <a:p>
            <a:pPr marL="971550" lvl="1" indent="-514350">
              <a:buFont typeface="+mj-lt"/>
              <a:buAutoNum type="arabicPeriod"/>
            </a:pPr>
            <a:r>
              <a:rPr lang="en-US" dirty="0"/>
              <a:t>Develop a clear picture of how the system works </a:t>
            </a:r>
          </a:p>
          <a:p>
            <a:pPr marL="971550" lvl="1" indent="-514350">
              <a:buFont typeface="+mj-lt"/>
              <a:buAutoNum type="arabicPeriod"/>
            </a:pPr>
            <a:r>
              <a:rPr lang="en-US" dirty="0"/>
              <a:t>List every service consumed by the system</a:t>
            </a:r>
          </a:p>
          <a:p>
            <a:pPr marL="971550" lvl="1" indent="-514350">
              <a:buFont typeface="+mj-lt"/>
              <a:buAutoNum type="arabicPeriod"/>
            </a:pPr>
            <a:r>
              <a:rPr lang="en-US" dirty="0"/>
              <a:t>Enumerate all the assumptions about the environment and default security configuration </a:t>
            </a:r>
          </a:p>
          <a:p>
            <a:pPr marL="457200" lvl="1" indent="0">
              <a:buNone/>
            </a:pPr>
            <a:r>
              <a:rPr lang="en-US" dirty="0"/>
              <a:t>Ex: security incidents happen because assumptions were wrong. Assuming a firewall is always on. If we don’t record these assumptions we can’t verify or challenge them later</a:t>
            </a:r>
          </a:p>
        </p:txBody>
      </p:sp>
    </p:spTree>
    <p:extLst>
      <p:ext uri="{BB962C8B-B14F-4D97-AF65-F5344CB8AC3E}">
        <p14:creationId xmlns:p14="http://schemas.microsoft.com/office/powerpoint/2010/main" val="1077137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1F5D8A-0A6F-61D4-2EAC-B6C8722F6B7A}"/>
              </a:ext>
            </a:extLst>
          </p:cNvPr>
          <p:cNvSpPr>
            <a:spLocks noGrp="1"/>
          </p:cNvSpPr>
          <p:nvPr>
            <p:ph idx="1"/>
          </p:nvPr>
        </p:nvSpPr>
        <p:spPr>
          <a:xfrm>
            <a:off x="838200" y="345688"/>
            <a:ext cx="10515600" cy="5831275"/>
          </a:xfrm>
        </p:spPr>
        <p:txBody>
          <a:bodyPr/>
          <a:lstStyle/>
          <a:p>
            <a:r>
              <a:rPr lang="en-US" dirty="0"/>
              <a:t>We should ask as many questions as we can about the system</a:t>
            </a:r>
          </a:p>
          <a:p>
            <a:r>
              <a:rPr lang="en-US" dirty="0"/>
              <a:t>NB: If I don’t complete this phase, I will put my customers at risk by overlooking important security design considerations </a:t>
            </a:r>
          </a:p>
          <a:p>
            <a:r>
              <a:rPr lang="en-US" dirty="0"/>
              <a:t>The diagram elements: the elements should have a context to help anyone understand how they’re used and secured in the system.</a:t>
            </a:r>
          </a:p>
          <a:p>
            <a:r>
              <a:rPr lang="en-US" dirty="0"/>
              <a:t>The information that should be included depends on a few key factors:</a:t>
            </a:r>
          </a:p>
          <a:p>
            <a:pPr marL="514350" indent="-514350">
              <a:buFont typeface="+mj-lt"/>
              <a:buAutoNum type="arabicPeriod"/>
            </a:pPr>
            <a:r>
              <a:rPr lang="en-US" dirty="0"/>
              <a:t>Type of system you’re building</a:t>
            </a:r>
          </a:p>
          <a:p>
            <a:pPr marL="514350" indent="-514350">
              <a:buFont typeface="+mj-lt"/>
              <a:buAutoNum type="arabicPeriod"/>
            </a:pPr>
            <a:r>
              <a:rPr lang="en-US" dirty="0"/>
              <a:t>Required context from security team</a:t>
            </a:r>
          </a:p>
          <a:p>
            <a:pPr marL="514350" indent="-514350">
              <a:buFont typeface="+mj-lt"/>
              <a:buAutoNum type="arabicPeriod"/>
            </a:pPr>
            <a:endParaRPr lang="en-US" dirty="0"/>
          </a:p>
        </p:txBody>
      </p:sp>
    </p:spTree>
    <p:extLst>
      <p:ext uri="{BB962C8B-B14F-4D97-AF65-F5344CB8AC3E}">
        <p14:creationId xmlns:p14="http://schemas.microsoft.com/office/powerpoint/2010/main" val="1113622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FF7BF-AE69-9984-1815-FBF1531383EE}"/>
              </a:ext>
            </a:extLst>
          </p:cNvPr>
          <p:cNvSpPr>
            <a:spLocks noGrp="1"/>
          </p:cNvSpPr>
          <p:nvPr>
            <p:ph type="title"/>
          </p:nvPr>
        </p:nvSpPr>
        <p:spPr/>
        <p:txBody>
          <a:bodyPr/>
          <a:lstStyle/>
          <a:p>
            <a:r>
              <a:rPr lang="en-US" dirty="0"/>
              <a:t>Step 2 - Break</a:t>
            </a:r>
          </a:p>
        </p:txBody>
      </p:sp>
      <p:sp>
        <p:nvSpPr>
          <p:cNvPr id="3" name="Content Placeholder 2">
            <a:extLst>
              <a:ext uri="{FF2B5EF4-FFF2-40B4-BE49-F238E27FC236}">
                <a16:creationId xmlns:a16="http://schemas.microsoft.com/office/drawing/2014/main" id="{245EC519-E4FC-D209-F959-15AA2C2807F0}"/>
              </a:ext>
            </a:extLst>
          </p:cNvPr>
          <p:cNvSpPr>
            <a:spLocks noGrp="1"/>
          </p:cNvSpPr>
          <p:nvPr>
            <p:ph idx="1"/>
          </p:nvPr>
        </p:nvSpPr>
        <p:spPr/>
        <p:txBody>
          <a:bodyPr/>
          <a:lstStyle/>
          <a:p>
            <a:r>
              <a:rPr lang="en-US" dirty="0"/>
              <a:t>We use the DFD to find potential threats against the system, we use a threat modeling framework to find the most common threats and ways to protect against them.</a:t>
            </a:r>
          </a:p>
          <a:p>
            <a:r>
              <a:rPr lang="en-US" dirty="0"/>
              <a:t>Goals: </a:t>
            </a:r>
          </a:p>
          <a:p>
            <a:pPr marL="971550" lvl="1" indent="-514350">
              <a:buFont typeface="+mj-lt"/>
              <a:buAutoNum type="arabicPeriod"/>
            </a:pPr>
            <a:r>
              <a:rPr lang="en-US" dirty="0"/>
              <a:t>Choose between protecting the system and understand the attacker focused approach</a:t>
            </a:r>
          </a:p>
          <a:p>
            <a:pPr marL="971550" lvl="1" indent="-514350">
              <a:buFont typeface="+mj-lt"/>
              <a:buAutoNum type="arabicPeriod"/>
            </a:pPr>
            <a:r>
              <a:rPr lang="en-US" dirty="0"/>
              <a:t>Use the stride framework to identify common threats</a:t>
            </a:r>
          </a:p>
        </p:txBody>
      </p:sp>
    </p:spTree>
    <p:extLst>
      <p:ext uri="{BB962C8B-B14F-4D97-AF65-F5344CB8AC3E}">
        <p14:creationId xmlns:p14="http://schemas.microsoft.com/office/powerpoint/2010/main" val="3320285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70C25-6D15-0BAD-EAA5-A182EB272285}"/>
              </a:ext>
            </a:extLst>
          </p:cNvPr>
          <p:cNvSpPr>
            <a:spLocks noGrp="1"/>
          </p:cNvSpPr>
          <p:nvPr>
            <p:ph type="title"/>
          </p:nvPr>
        </p:nvSpPr>
        <p:spPr/>
        <p:txBody>
          <a:bodyPr/>
          <a:lstStyle/>
          <a:p>
            <a:r>
              <a:rPr lang="en-US" dirty="0"/>
              <a:t>STRIDE framework</a:t>
            </a:r>
          </a:p>
        </p:txBody>
      </p:sp>
      <p:sp>
        <p:nvSpPr>
          <p:cNvPr id="3" name="Content Placeholder 2">
            <a:extLst>
              <a:ext uri="{FF2B5EF4-FFF2-40B4-BE49-F238E27FC236}">
                <a16:creationId xmlns:a16="http://schemas.microsoft.com/office/drawing/2014/main" id="{06A1C1DF-1301-C1FD-0FFD-64A9CB7808D9}"/>
              </a:ext>
            </a:extLst>
          </p:cNvPr>
          <p:cNvSpPr>
            <a:spLocks noGrp="1"/>
          </p:cNvSpPr>
          <p:nvPr>
            <p:ph idx="1"/>
          </p:nvPr>
        </p:nvSpPr>
        <p:spPr/>
        <p:txBody>
          <a:bodyPr>
            <a:normAutofit/>
          </a:bodyPr>
          <a:lstStyle/>
          <a:p>
            <a:r>
              <a:rPr lang="en-US" dirty="0"/>
              <a:t>It is a threat modeling methodology created by Microsoft. It helps the security team identify, categorize and prevent security vulnerabilities in systems and software</a:t>
            </a:r>
          </a:p>
          <a:p>
            <a:r>
              <a:rPr lang="en-US" dirty="0"/>
              <a:t>S : spoofing(pretending to be someone else)</a:t>
            </a:r>
          </a:p>
          <a:p>
            <a:r>
              <a:rPr lang="en-US" dirty="0"/>
              <a:t>T: Tampering (unauthorized modification of data/code)</a:t>
            </a:r>
          </a:p>
          <a:p>
            <a:r>
              <a:rPr lang="en-US" dirty="0"/>
              <a:t>R: Repudiation(denying an action without a reliable audit trail)</a:t>
            </a:r>
          </a:p>
          <a:p>
            <a:r>
              <a:rPr lang="en-US" dirty="0"/>
              <a:t>I: Information disclosure (exposing sensitive data)</a:t>
            </a:r>
          </a:p>
          <a:p>
            <a:r>
              <a:rPr lang="en-US" dirty="0"/>
              <a:t>D: Denial of service (making a system unavailable)</a:t>
            </a:r>
          </a:p>
          <a:p>
            <a:r>
              <a:rPr lang="en-US" dirty="0"/>
              <a:t>E: elevation of privilege (gaining rights non intended)</a:t>
            </a:r>
          </a:p>
        </p:txBody>
      </p:sp>
    </p:spTree>
    <p:extLst>
      <p:ext uri="{BB962C8B-B14F-4D97-AF65-F5344CB8AC3E}">
        <p14:creationId xmlns:p14="http://schemas.microsoft.com/office/powerpoint/2010/main" val="784279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C30AC-FAB9-7FC7-7622-004CCFBD9FA7}"/>
              </a:ext>
            </a:extLst>
          </p:cNvPr>
          <p:cNvSpPr>
            <a:spLocks noGrp="1"/>
          </p:cNvSpPr>
          <p:nvPr>
            <p:ph type="title"/>
          </p:nvPr>
        </p:nvSpPr>
        <p:spPr/>
        <p:txBody>
          <a:bodyPr/>
          <a:lstStyle/>
          <a:p>
            <a:r>
              <a:rPr lang="en-US" dirty="0"/>
              <a:t>Step 3 – Fix </a:t>
            </a:r>
          </a:p>
        </p:txBody>
      </p:sp>
      <p:sp>
        <p:nvSpPr>
          <p:cNvPr id="3" name="Content Placeholder 2">
            <a:extLst>
              <a:ext uri="{FF2B5EF4-FFF2-40B4-BE49-F238E27FC236}">
                <a16:creationId xmlns:a16="http://schemas.microsoft.com/office/drawing/2014/main" id="{A0FD31B9-8D70-047B-381A-D322A92096F8}"/>
              </a:ext>
            </a:extLst>
          </p:cNvPr>
          <p:cNvSpPr>
            <a:spLocks noGrp="1"/>
          </p:cNvSpPr>
          <p:nvPr>
            <p:ph idx="1"/>
          </p:nvPr>
        </p:nvSpPr>
        <p:spPr/>
        <p:txBody>
          <a:bodyPr/>
          <a:lstStyle/>
          <a:p>
            <a:r>
              <a:rPr lang="en-US" dirty="0"/>
              <a:t>We use the DFD and the chosen threat modeling framework to systematically enumerate possible threats to each element and data flow in the system.</a:t>
            </a:r>
          </a:p>
          <a:p>
            <a:r>
              <a:rPr lang="en-US" dirty="0"/>
              <a:t>Goals:</a:t>
            </a:r>
          </a:p>
          <a:p>
            <a:pPr marL="514350" indent="-514350">
              <a:buFont typeface="+mj-lt"/>
              <a:buAutoNum type="arabicPeriod"/>
            </a:pPr>
            <a:r>
              <a:rPr lang="en-US" dirty="0"/>
              <a:t>Map threats to specific system components and interactions</a:t>
            </a:r>
          </a:p>
          <a:p>
            <a:pPr marL="514350" indent="-514350">
              <a:buFont typeface="+mj-lt"/>
              <a:buAutoNum type="arabicPeriod"/>
            </a:pPr>
            <a:r>
              <a:rPr lang="en-US" dirty="0"/>
              <a:t>Prioritize threats based on risk and potential impact</a:t>
            </a:r>
          </a:p>
          <a:p>
            <a:pPr marL="514350" indent="-514350">
              <a:buFont typeface="+mj-lt"/>
              <a:buAutoNum type="arabicPeriod"/>
            </a:pPr>
            <a:r>
              <a:rPr lang="en-US" dirty="0"/>
              <a:t>Build a clear threat library to guide security decisions</a:t>
            </a:r>
          </a:p>
          <a:p>
            <a:endParaRPr lang="en-US" dirty="0"/>
          </a:p>
        </p:txBody>
      </p:sp>
    </p:spTree>
    <p:extLst>
      <p:ext uri="{BB962C8B-B14F-4D97-AF65-F5344CB8AC3E}">
        <p14:creationId xmlns:p14="http://schemas.microsoft.com/office/powerpoint/2010/main" val="2260783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5A7B2-7639-727D-5AC7-C6CC3E10B855}"/>
              </a:ext>
            </a:extLst>
          </p:cNvPr>
          <p:cNvSpPr>
            <a:spLocks noGrp="1"/>
          </p:cNvSpPr>
          <p:nvPr>
            <p:ph type="title"/>
          </p:nvPr>
        </p:nvSpPr>
        <p:spPr/>
        <p:txBody>
          <a:bodyPr/>
          <a:lstStyle/>
          <a:p>
            <a:r>
              <a:rPr lang="en-US" dirty="0"/>
              <a:t>Step 4 - Verify</a:t>
            </a:r>
          </a:p>
        </p:txBody>
      </p:sp>
      <p:sp>
        <p:nvSpPr>
          <p:cNvPr id="3" name="Content Placeholder 2">
            <a:extLst>
              <a:ext uri="{FF2B5EF4-FFF2-40B4-BE49-F238E27FC236}">
                <a16:creationId xmlns:a16="http://schemas.microsoft.com/office/drawing/2014/main" id="{A5FD1715-C354-F39F-DE2D-D4175DB9C2B3}"/>
              </a:ext>
            </a:extLst>
          </p:cNvPr>
          <p:cNvSpPr>
            <a:spLocks noGrp="1"/>
          </p:cNvSpPr>
          <p:nvPr>
            <p:ph idx="1"/>
          </p:nvPr>
        </p:nvSpPr>
        <p:spPr/>
        <p:txBody>
          <a:bodyPr/>
          <a:lstStyle/>
          <a:p>
            <a:r>
              <a:rPr lang="en-US" dirty="0"/>
              <a:t>We review the identified threats and proposed mitigations to ensure the model is accurate, complete, and aligned with the system’s design and security goals.</a:t>
            </a:r>
          </a:p>
          <a:p>
            <a:r>
              <a:rPr lang="en-US" dirty="0"/>
              <a:t>Goals:</a:t>
            </a:r>
          </a:p>
          <a:p>
            <a:pPr marL="514350" indent="-514350">
              <a:buFont typeface="+mj-lt"/>
              <a:buAutoNum type="arabicPeriod"/>
            </a:pPr>
            <a:r>
              <a:rPr lang="en-US" dirty="0"/>
              <a:t>Validate that all threats are addressed or accepted with rationale</a:t>
            </a:r>
          </a:p>
          <a:p>
            <a:pPr marL="514350" indent="-514350">
              <a:buFont typeface="+mj-lt"/>
              <a:buAutoNum type="arabicPeriod"/>
            </a:pPr>
            <a:r>
              <a:rPr lang="en-US" dirty="0"/>
              <a:t>Confirm mitigations are practical and effective</a:t>
            </a:r>
          </a:p>
          <a:p>
            <a:pPr marL="514350" indent="-514350">
              <a:buFont typeface="+mj-lt"/>
              <a:buAutoNum type="arabicPeriod"/>
            </a:pPr>
            <a:r>
              <a:rPr lang="en-US" dirty="0"/>
              <a:t>Update the threat model as the system evolves</a:t>
            </a:r>
          </a:p>
          <a:p>
            <a:endParaRPr lang="en-US" dirty="0"/>
          </a:p>
        </p:txBody>
      </p:sp>
    </p:spTree>
    <p:extLst>
      <p:ext uri="{BB962C8B-B14F-4D97-AF65-F5344CB8AC3E}">
        <p14:creationId xmlns:p14="http://schemas.microsoft.com/office/powerpoint/2010/main" val="8953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48FC8-7097-D077-AA4B-B61FE46B7B10}"/>
              </a:ext>
            </a:extLst>
          </p:cNvPr>
          <p:cNvSpPr>
            <a:spLocks noGrp="1"/>
          </p:cNvSpPr>
          <p:nvPr>
            <p:ph type="title"/>
          </p:nvPr>
        </p:nvSpPr>
        <p:spPr/>
        <p:txBody>
          <a:bodyPr/>
          <a:lstStyle/>
          <a:p>
            <a:r>
              <a:rPr lang="en-US" dirty="0"/>
              <a:t>Threat modeling focused approaches</a:t>
            </a:r>
          </a:p>
        </p:txBody>
      </p:sp>
      <p:sp>
        <p:nvSpPr>
          <p:cNvPr id="3" name="Content Placeholder 2">
            <a:extLst>
              <a:ext uri="{FF2B5EF4-FFF2-40B4-BE49-F238E27FC236}">
                <a16:creationId xmlns:a16="http://schemas.microsoft.com/office/drawing/2014/main" id="{517404F3-382A-D2E3-812F-4BCD054FBF22}"/>
              </a:ext>
            </a:extLst>
          </p:cNvPr>
          <p:cNvSpPr>
            <a:spLocks noGrp="1"/>
          </p:cNvSpPr>
          <p:nvPr>
            <p:ph idx="1"/>
          </p:nvPr>
        </p:nvSpPr>
        <p:spPr/>
        <p:txBody>
          <a:bodyPr/>
          <a:lstStyle/>
          <a:p>
            <a:r>
              <a:rPr lang="en-US" dirty="0"/>
              <a:t>There are 3 types of approaches:</a:t>
            </a:r>
          </a:p>
          <a:p>
            <a:pPr marL="514350" indent="-514350">
              <a:buFont typeface="+mj-lt"/>
              <a:buAutoNum type="arabicPeriod"/>
            </a:pPr>
            <a:r>
              <a:rPr lang="en-US" dirty="0"/>
              <a:t>System focused approach</a:t>
            </a:r>
          </a:p>
          <a:p>
            <a:pPr marL="514350" indent="-514350">
              <a:buFont typeface="+mj-lt"/>
              <a:buAutoNum type="arabicPeriod"/>
            </a:pPr>
            <a:r>
              <a:rPr lang="en-US" dirty="0"/>
              <a:t>Attacker focused approach</a:t>
            </a:r>
          </a:p>
          <a:p>
            <a:pPr marL="514350" indent="-514350">
              <a:buFont typeface="+mj-lt"/>
              <a:buAutoNum type="arabicPeriod"/>
            </a:pPr>
            <a:r>
              <a:rPr lang="en-US" dirty="0"/>
              <a:t>Asset focused approach</a:t>
            </a:r>
          </a:p>
        </p:txBody>
      </p:sp>
    </p:spTree>
    <p:extLst>
      <p:ext uri="{BB962C8B-B14F-4D97-AF65-F5344CB8AC3E}">
        <p14:creationId xmlns:p14="http://schemas.microsoft.com/office/powerpoint/2010/main" val="270262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0B2C5-2324-AB2E-50B6-7859ADC677C4}"/>
              </a:ext>
            </a:extLst>
          </p:cNvPr>
          <p:cNvSpPr>
            <a:spLocks noGrp="1"/>
          </p:cNvSpPr>
          <p:nvPr>
            <p:ph type="title"/>
          </p:nvPr>
        </p:nvSpPr>
        <p:spPr/>
        <p:txBody>
          <a:bodyPr/>
          <a:lstStyle/>
          <a:p>
            <a:r>
              <a:rPr lang="en-US" dirty="0"/>
              <a:t>System focused approach</a:t>
            </a:r>
          </a:p>
        </p:txBody>
      </p:sp>
      <p:sp>
        <p:nvSpPr>
          <p:cNvPr id="3" name="Content Placeholder 2">
            <a:extLst>
              <a:ext uri="{FF2B5EF4-FFF2-40B4-BE49-F238E27FC236}">
                <a16:creationId xmlns:a16="http://schemas.microsoft.com/office/drawing/2014/main" id="{92F9779C-CAEC-21E4-BF71-1731E974C0EB}"/>
              </a:ext>
            </a:extLst>
          </p:cNvPr>
          <p:cNvSpPr>
            <a:spLocks noGrp="1"/>
          </p:cNvSpPr>
          <p:nvPr>
            <p:ph idx="1"/>
          </p:nvPr>
        </p:nvSpPr>
        <p:spPr/>
        <p:txBody>
          <a:bodyPr/>
          <a:lstStyle/>
          <a:p>
            <a:r>
              <a:rPr lang="en-US" dirty="0"/>
              <a:t>Goal: protect the entire system</a:t>
            </a:r>
          </a:p>
          <a:p>
            <a:r>
              <a:rPr lang="en-US" dirty="0"/>
              <a:t>The framework helps analyze the system and how it affects other assets, which include :</a:t>
            </a:r>
          </a:p>
          <a:p>
            <a:pPr marL="514350" indent="-514350">
              <a:buFont typeface="+mj-lt"/>
              <a:buAutoNum type="arabicPeriod"/>
            </a:pPr>
            <a:r>
              <a:rPr lang="en-US" dirty="0"/>
              <a:t> logical assets </a:t>
            </a:r>
          </a:p>
          <a:p>
            <a:pPr marL="514350" indent="-514350">
              <a:buFont typeface="+mj-lt"/>
              <a:buAutoNum type="arabicPeriod"/>
            </a:pPr>
            <a:r>
              <a:rPr lang="en-US" dirty="0"/>
              <a:t>physical assets</a:t>
            </a:r>
          </a:p>
        </p:txBody>
      </p:sp>
    </p:spTree>
    <p:extLst>
      <p:ext uri="{BB962C8B-B14F-4D97-AF65-F5344CB8AC3E}">
        <p14:creationId xmlns:p14="http://schemas.microsoft.com/office/powerpoint/2010/main" val="673118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52079-849B-3076-3AC4-54A8F5C50D5C}"/>
              </a:ext>
            </a:extLst>
          </p:cNvPr>
          <p:cNvSpPr>
            <a:spLocks noGrp="1"/>
          </p:cNvSpPr>
          <p:nvPr>
            <p:ph type="title"/>
          </p:nvPr>
        </p:nvSpPr>
        <p:spPr/>
        <p:txBody>
          <a:bodyPr/>
          <a:lstStyle/>
          <a:p>
            <a:r>
              <a:rPr lang="en-US" dirty="0"/>
              <a:t>Attacker focused approach</a:t>
            </a:r>
          </a:p>
        </p:txBody>
      </p:sp>
      <p:sp>
        <p:nvSpPr>
          <p:cNvPr id="3" name="Content Placeholder 2">
            <a:extLst>
              <a:ext uri="{FF2B5EF4-FFF2-40B4-BE49-F238E27FC236}">
                <a16:creationId xmlns:a16="http://schemas.microsoft.com/office/drawing/2014/main" id="{0910054C-43EA-CE80-EED2-25DD329C75CA}"/>
              </a:ext>
            </a:extLst>
          </p:cNvPr>
          <p:cNvSpPr>
            <a:spLocks noGrp="1"/>
          </p:cNvSpPr>
          <p:nvPr>
            <p:ph idx="1"/>
          </p:nvPr>
        </p:nvSpPr>
        <p:spPr/>
        <p:txBody>
          <a:bodyPr/>
          <a:lstStyle/>
          <a:p>
            <a:r>
              <a:rPr lang="en-US" dirty="0"/>
              <a:t>Focus on the attacker’s motive, means, all the ways they ca wreak havoc in your system </a:t>
            </a:r>
          </a:p>
          <a:p>
            <a:r>
              <a:rPr lang="en-US" dirty="0"/>
              <a:t>We look at entry points</a:t>
            </a:r>
          </a:p>
          <a:p>
            <a:pPr marL="0" indent="0">
              <a:buNone/>
            </a:pPr>
            <a:endParaRPr lang="en-US" dirty="0"/>
          </a:p>
        </p:txBody>
      </p:sp>
    </p:spTree>
    <p:extLst>
      <p:ext uri="{BB962C8B-B14F-4D97-AF65-F5344CB8AC3E}">
        <p14:creationId xmlns:p14="http://schemas.microsoft.com/office/powerpoint/2010/main" val="32561832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5B88F-4669-7366-DBBA-08E07AE1AACC}"/>
              </a:ext>
            </a:extLst>
          </p:cNvPr>
          <p:cNvSpPr>
            <a:spLocks noGrp="1"/>
          </p:cNvSpPr>
          <p:nvPr>
            <p:ph type="title"/>
          </p:nvPr>
        </p:nvSpPr>
        <p:spPr/>
        <p:txBody>
          <a:bodyPr/>
          <a:lstStyle/>
          <a:p>
            <a:r>
              <a:rPr lang="en-US" dirty="0"/>
              <a:t>Asset focused approach</a:t>
            </a:r>
          </a:p>
        </p:txBody>
      </p:sp>
      <p:sp>
        <p:nvSpPr>
          <p:cNvPr id="3" name="Content Placeholder 2">
            <a:extLst>
              <a:ext uri="{FF2B5EF4-FFF2-40B4-BE49-F238E27FC236}">
                <a16:creationId xmlns:a16="http://schemas.microsoft.com/office/drawing/2014/main" id="{8604CF38-9C24-8134-3E1B-E166AC2A277C}"/>
              </a:ext>
            </a:extLst>
          </p:cNvPr>
          <p:cNvSpPr>
            <a:spLocks noGrp="1"/>
          </p:cNvSpPr>
          <p:nvPr>
            <p:ph idx="1"/>
          </p:nvPr>
        </p:nvSpPr>
        <p:spPr/>
        <p:txBody>
          <a:bodyPr/>
          <a:lstStyle/>
          <a:p>
            <a:r>
              <a:rPr lang="en-US" dirty="0"/>
              <a:t>Evaluate risk for each asset</a:t>
            </a:r>
          </a:p>
          <a:p>
            <a:r>
              <a:rPr lang="en-US" dirty="0"/>
              <a:t>Identify critical assets </a:t>
            </a:r>
          </a:p>
          <a:p>
            <a:r>
              <a:rPr lang="en-US" dirty="0"/>
              <a:t>Focus on protecting the assets </a:t>
            </a:r>
          </a:p>
        </p:txBody>
      </p:sp>
    </p:spTree>
    <p:extLst>
      <p:ext uri="{BB962C8B-B14F-4D97-AF65-F5344CB8AC3E}">
        <p14:creationId xmlns:p14="http://schemas.microsoft.com/office/powerpoint/2010/main" val="2848474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2D641-F7D4-64FF-C93C-A0847CD0B89B}"/>
              </a:ext>
            </a:extLst>
          </p:cNvPr>
          <p:cNvSpPr>
            <a:spLocks noGrp="1"/>
          </p:cNvSpPr>
          <p:nvPr>
            <p:ph type="title"/>
          </p:nvPr>
        </p:nvSpPr>
        <p:spPr/>
        <p:txBody>
          <a:bodyPr/>
          <a:lstStyle/>
          <a:p>
            <a:r>
              <a:rPr lang="en-US" dirty="0"/>
              <a:t>Threat modeling framework </a:t>
            </a:r>
          </a:p>
        </p:txBody>
      </p:sp>
      <p:sp>
        <p:nvSpPr>
          <p:cNvPr id="3" name="Content Placeholder 2">
            <a:extLst>
              <a:ext uri="{FF2B5EF4-FFF2-40B4-BE49-F238E27FC236}">
                <a16:creationId xmlns:a16="http://schemas.microsoft.com/office/drawing/2014/main" id="{F6F26D35-17AE-45AC-C9AE-4879EB8DB893}"/>
              </a:ext>
            </a:extLst>
          </p:cNvPr>
          <p:cNvSpPr>
            <a:spLocks noGrp="1"/>
          </p:cNvSpPr>
          <p:nvPr>
            <p:ph idx="1"/>
          </p:nvPr>
        </p:nvSpPr>
        <p:spPr/>
        <p:txBody>
          <a:bodyPr>
            <a:normAutofit fontScale="92500" lnSpcReduction="10000"/>
          </a:bodyPr>
          <a:lstStyle/>
          <a:p>
            <a:r>
              <a:rPr lang="en-US" dirty="0"/>
              <a:t>It looks at each element of the DFD and helps find potential threats and ways to reduce or eliminate risks</a:t>
            </a:r>
          </a:p>
          <a:p>
            <a:r>
              <a:rPr lang="en-US" dirty="0"/>
              <a:t>Use STRIDE framework to detect threat categories </a:t>
            </a:r>
          </a:p>
          <a:p>
            <a:r>
              <a:rPr lang="en-US" dirty="0"/>
              <a:t>Security control categories:</a:t>
            </a:r>
          </a:p>
          <a:p>
            <a:pPr marL="514350" indent="-514350">
              <a:buFont typeface="+mj-lt"/>
              <a:buAutoNum type="arabicPeriod"/>
            </a:pPr>
            <a:r>
              <a:rPr lang="en-US" dirty="0"/>
              <a:t>S </a:t>
            </a:r>
            <a:r>
              <a:rPr lang="en-US" dirty="0">
                <a:sym typeface="Wingdings" pitchFamily="2" charset="2"/>
              </a:rPr>
              <a:t> authentication </a:t>
            </a:r>
          </a:p>
          <a:p>
            <a:pPr marL="514350" indent="-514350">
              <a:buFont typeface="+mj-lt"/>
              <a:buAutoNum type="arabicPeriod"/>
            </a:pPr>
            <a:r>
              <a:rPr lang="en-US" dirty="0">
                <a:sym typeface="Wingdings" pitchFamily="2" charset="2"/>
              </a:rPr>
              <a:t>T  Integrity</a:t>
            </a:r>
          </a:p>
          <a:p>
            <a:pPr marL="514350" indent="-514350">
              <a:buFont typeface="+mj-lt"/>
              <a:buAutoNum type="arabicPeriod"/>
            </a:pPr>
            <a:r>
              <a:rPr lang="en-US" dirty="0">
                <a:sym typeface="Wingdings" pitchFamily="2" charset="2"/>
              </a:rPr>
              <a:t>R  Non-repudiation </a:t>
            </a:r>
          </a:p>
          <a:p>
            <a:pPr marL="514350" indent="-514350">
              <a:buFont typeface="+mj-lt"/>
              <a:buAutoNum type="arabicPeriod"/>
            </a:pPr>
            <a:r>
              <a:rPr lang="en-US" dirty="0">
                <a:sym typeface="Wingdings" pitchFamily="2" charset="2"/>
              </a:rPr>
              <a:t>I  Confidentiality </a:t>
            </a:r>
          </a:p>
          <a:p>
            <a:pPr marL="514350" indent="-514350">
              <a:buFont typeface="+mj-lt"/>
              <a:buAutoNum type="arabicPeriod"/>
            </a:pPr>
            <a:r>
              <a:rPr lang="en-US" dirty="0">
                <a:sym typeface="Wingdings" pitchFamily="2" charset="2"/>
              </a:rPr>
              <a:t>D  availability </a:t>
            </a:r>
          </a:p>
          <a:p>
            <a:pPr marL="514350" indent="-514350">
              <a:buFont typeface="+mj-lt"/>
              <a:buAutoNum type="arabicPeriod"/>
            </a:pPr>
            <a:r>
              <a:rPr lang="en-US" dirty="0">
                <a:sym typeface="Wingdings" pitchFamily="2" charset="2"/>
              </a:rPr>
              <a:t>E  authorization </a:t>
            </a:r>
            <a:endParaRPr lang="en-US" dirty="0"/>
          </a:p>
        </p:txBody>
      </p:sp>
    </p:spTree>
    <p:extLst>
      <p:ext uri="{BB962C8B-B14F-4D97-AF65-F5344CB8AC3E}">
        <p14:creationId xmlns:p14="http://schemas.microsoft.com/office/powerpoint/2010/main" val="37134184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341AF-7268-2D8B-4521-9F85F196F0B9}"/>
              </a:ext>
            </a:extLst>
          </p:cNvPr>
          <p:cNvSpPr>
            <a:spLocks noGrp="1"/>
          </p:cNvSpPr>
          <p:nvPr>
            <p:ph type="title"/>
          </p:nvPr>
        </p:nvSpPr>
        <p:spPr/>
        <p:txBody>
          <a:bodyPr/>
          <a:lstStyle/>
          <a:p>
            <a:r>
              <a:rPr lang="en-US" dirty="0"/>
              <a:t>Spoofing </a:t>
            </a:r>
          </a:p>
        </p:txBody>
      </p:sp>
      <p:sp>
        <p:nvSpPr>
          <p:cNvPr id="3" name="Content Placeholder 2">
            <a:extLst>
              <a:ext uri="{FF2B5EF4-FFF2-40B4-BE49-F238E27FC236}">
                <a16:creationId xmlns:a16="http://schemas.microsoft.com/office/drawing/2014/main" id="{3C3D05B4-D1C4-5691-D3DB-4A4A17E0F0A4}"/>
              </a:ext>
            </a:extLst>
          </p:cNvPr>
          <p:cNvSpPr>
            <a:spLocks noGrp="1"/>
          </p:cNvSpPr>
          <p:nvPr>
            <p:ph idx="1"/>
          </p:nvPr>
        </p:nvSpPr>
        <p:spPr/>
        <p:txBody>
          <a:bodyPr/>
          <a:lstStyle/>
          <a:p>
            <a:r>
              <a:rPr lang="en-US" dirty="0"/>
              <a:t>When a malicious person or program successfully impersonates you or your system to conduct malicious activities </a:t>
            </a:r>
          </a:p>
          <a:p>
            <a:r>
              <a:rPr lang="en-US" dirty="0"/>
              <a:t>Interaction between elements : </a:t>
            </a:r>
          </a:p>
          <a:p>
            <a:pPr marL="514350" indent="-514350">
              <a:buFont typeface="+mj-lt"/>
              <a:buAutoNum type="arabicPeriod"/>
            </a:pPr>
            <a:endParaRPr lang="en-US" dirty="0"/>
          </a:p>
          <a:p>
            <a:pPr marL="0" indent="0">
              <a:buNone/>
            </a:pPr>
            <a:endParaRPr lang="en-US" dirty="0"/>
          </a:p>
          <a:p>
            <a:pPr marL="0" indent="0">
              <a:buNone/>
            </a:pPr>
            <a:r>
              <a:rPr lang="en-US" dirty="0"/>
              <a:t>How to prevent it:</a:t>
            </a:r>
          </a:p>
          <a:p>
            <a:pPr marL="0" indent="0">
              <a:buNone/>
            </a:pPr>
            <a:r>
              <a:rPr lang="en-US" dirty="0"/>
              <a:t>Authentication verifies that users and systems are who they claim to be </a:t>
            </a:r>
          </a:p>
        </p:txBody>
      </p:sp>
      <p:sp>
        <p:nvSpPr>
          <p:cNvPr id="4" name="Oval 3">
            <a:extLst>
              <a:ext uri="{FF2B5EF4-FFF2-40B4-BE49-F238E27FC236}">
                <a16:creationId xmlns:a16="http://schemas.microsoft.com/office/drawing/2014/main" id="{56E12DE5-ADD4-926E-B807-259E17FA6C2D}"/>
              </a:ext>
            </a:extLst>
          </p:cNvPr>
          <p:cNvSpPr/>
          <p:nvPr/>
        </p:nvSpPr>
        <p:spPr>
          <a:xfrm>
            <a:off x="1170878" y="3289609"/>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FA07CDB-3B64-F82D-41AD-E028E5DE1D49}"/>
              </a:ext>
            </a:extLst>
          </p:cNvPr>
          <p:cNvSpPr/>
          <p:nvPr/>
        </p:nvSpPr>
        <p:spPr>
          <a:xfrm>
            <a:off x="2404946" y="3289609"/>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2D1948E-2CC4-BD46-41F9-62E1C5234743}"/>
              </a:ext>
            </a:extLst>
          </p:cNvPr>
          <p:cNvSpPr/>
          <p:nvPr/>
        </p:nvSpPr>
        <p:spPr>
          <a:xfrm>
            <a:off x="3798849" y="3289608"/>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6D45520-411C-42C8-07EC-0D395AD901A8}"/>
              </a:ext>
            </a:extLst>
          </p:cNvPr>
          <p:cNvSpPr/>
          <p:nvPr/>
        </p:nvSpPr>
        <p:spPr>
          <a:xfrm>
            <a:off x="6759498" y="3289608"/>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3E2E532-191E-E4F1-99BB-3353B89EF6B0}"/>
              </a:ext>
            </a:extLst>
          </p:cNvPr>
          <p:cNvSpPr/>
          <p:nvPr/>
        </p:nvSpPr>
        <p:spPr>
          <a:xfrm>
            <a:off x="8062332" y="3328635"/>
            <a:ext cx="479502" cy="401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8C7C35DC-8B0B-C62D-7012-E479ABA1E527}"/>
              </a:ext>
            </a:extLst>
          </p:cNvPr>
          <p:cNvCxnSpPr/>
          <p:nvPr/>
        </p:nvCxnSpPr>
        <p:spPr>
          <a:xfrm>
            <a:off x="5241073" y="3429000"/>
            <a:ext cx="5241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0CCF5F5-D110-11EF-2CDB-56F1EFCF7BCF}"/>
              </a:ext>
            </a:extLst>
          </p:cNvPr>
          <p:cNvCxnSpPr/>
          <p:nvPr/>
        </p:nvCxnSpPr>
        <p:spPr>
          <a:xfrm>
            <a:off x="5241072" y="3791413"/>
            <a:ext cx="5241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011D8AF-BC4A-ECD3-3663-8534B2A63171}"/>
              </a:ext>
            </a:extLst>
          </p:cNvPr>
          <p:cNvCxnSpPr/>
          <p:nvPr/>
        </p:nvCxnSpPr>
        <p:spPr>
          <a:xfrm>
            <a:off x="1650380" y="3429000"/>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8EFA819-480C-94B9-AA3F-344A219CF931}"/>
              </a:ext>
            </a:extLst>
          </p:cNvPr>
          <p:cNvCxnSpPr/>
          <p:nvPr/>
        </p:nvCxnSpPr>
        <p:spPr>
          <a:xfrm>
            <a:off x="4389863" y="3430859"/>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657E823-A126-7A70-B365-4835DDD7766A}"/>
              </a:ext>
            </a:extLst>
          </p:cNvPr>
          <p:cNvCxnSpPr/>
          <p:nvPr/>
        </p:nvCxnSpPr>
        <p:spPr>
          <a:xfrm>
            <a:off x="7307766" y="3421566"/>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49AC30E-0122-5B80-4CDF-EAD0C4CDBE46}"/>
              </a:ext>
            </a:extLst>
          </p:cNvPr>
          <p:cNvCxnSpPr>
            <a:cxnSpLocks/>
          </p:cNvCxnSpPr>
          <p:nvPr/>
        </p:nvCxnSpPr>
        <p:spPr>
          <a:xfrm flipH="1">
            <a:off x="7239000" y="3730081"/>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39D3290-BD58-9232-67C3-0E879EDE453D}"/>
              </a:ext>
            </a:extLst>
          </p:cNvPr>
          <p:cNvCxnSpPr>
            <a:cxnSpLocks/>
          </p:cNvCxnSpPr>
          <p:nvPr/>
        </p:nvCxnSpPr>
        <p:spPr>
          <a:xfrm flipH="1">
            <a:off x="4429821" y="3804421"/>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137E8FA6-FF7E-F09A-736C-F1E3B23CBC9B}"/>
              </a:ext>
            </a:extLst>
          </p:cNvPr>
          <p:cNvCxnSpPr>
            <a:cxnSpLocks/>
          </p:cNvCxnSpPr>
          <p:nvPr/>
        </p:nvCxnSpPr>
        <p:spPr>
          <a:xfrm flipH="1">
            <a:off x="1650380" y="3730081"/>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847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E98D6-D3A3-8626-EE5A-DA8882F15B8F}"/>
              </a:ext>
            </a:extLst>
          </p:cNvPr>
          <p:cNvSpPr>
            <a:spLocks noGrp="1"/>
          </p:cNvSpPr>
          <p:nvPr>
            <p:ph type="title"/>
          </p:nvPr>
        </p:nvSpPr>
        <p:spPr/>
        <p:txBody>
          <a:bodyPr/>
          <a:lstStyle/>
          <a:p>
            <a:r>
              <a:rPr lang="en-US" dirty="0"/>
              <a:t>Tampering </a:t>
            </a:r>
          </a:p>
        </p:txBody>
      </p:sp>
      <p:sp>
        <p:nvSpPr>
          <p:cNvPr id="3" name="Content Placeholder 2">
            <a:extLst>
              <a:ext uri="{FF2B5EF4-FFF2-40B4-BE49-F238E27FC236}">
                <a16:creationId xmlns:a16="http://schemas.microsoft.com/office/drawing/2014/main" id="{1BD7CAF3-E3A7-3A15-9A52-EA34E6AEE4B4}"/>
              </a:ext>
            </a:extLst>
          </p:cNvPr>
          <p:cNvSpPr>
            <a:spLocks noGrp="1"/>
          </p:cNvSpPr>
          <p:nvPr>
            <p:ph idx="1"/>
          </p:nvPr>
        </p:nvSpPr>
        <p:spPr/>
        <p:txBody>
          <a:bodyPr/>
          <a:lstStyle/>
          <a:p>
            <a:r>
              <a:rPr lang="en-US" dirty="0"/>
              <a:t>Malicious attacker reads, modifies, deletes or inserts data in your system without authorization </a:t>
            </a:r>
          </a:p>
          <a:p>
            <a:r>
              <a:rPr lang="en-US" dirty="0"/>
              <a:t>Interaction between elements:</a:t>
            </a:r>
          </a:p>
          <a:p>
            <a:pPr marL="0" indent="0">
              <a:buNone/>
            </a:pPr>
            <a:endParaRPr lang="en-US" dirty="0"/>
          </a:p>
          <a:p>
            <a:pPr marL="0" indent="0">
              <a:buNone/>
            </a:pPr>
            <a:endParaRPr lang="en-US" dirty="0"/>
          </a:p>
          <a:p>
            <a:pPr marL="0" indent="0">
              <a:buNone/>
            </a:pPr>
            <a:r>
              <a:rPr lang="en-US" dirty="0"/>
              <a:t>How to prevent it?</a:t>
            </a:r>
          </a:p>
          <a:p>
            <a:pPr marL="0" indent="0">
              <a:buNone/>
            </a:pPr>
            <a:r>
              <a:rPr lang="en-US" dirty="0"/>
              <a:t>Integrity </a:t>
            </a:r>
          </a:p>
        </p:txBody>
      </p:sp>
      <p:sp>
        <p:nvSpPr>
          <p:cNvPr id="4" name="Oval 3">
            <a:extLst>
              <a:ext uri="{FF2B5EF4-FFF2-40B4-BE49-F238E27FC236}">
                <a16:creationId xmlns:a16="http://schemas.microsoft.com/office/drawing/2014/main" id="{62214E2A-6FD9-3CDF-54F7-C053098BCFA9}"/>
              </a:ext>
            </a:extLst>
          </p:cNvPr>
          <p:cNvSpPr/>
          <p:nvPr/>
        </p:nvSpPr>
        <p:spPr>
          <a:xfrm>
            <a:off x="1167162" y="3412273"/>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8EA6C06B-ED48-20C9-C469-648B99D58A98}"/>
              </a:ext>
            </a:extLst>
          </p:cNvPr>
          <p:cNvCxnSpPr/>
          <p:nvPr/>
        </p:nvCxnSpPr>
        <p:spPr>
          <a:xfrm>
            <a:off x="2609386" y="3551665"/>
            <a:ext cx="5241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A741D4A-0DD1-1DBB-1341-460E3FF2B134}"/>
              </a:ext>
            </a:extLst>
          </p:cNvPr>
          <p:cNvCxnSpPr/>
          <p:nvPr/>
        </p:nvCxnSpPr>
        <p:spPr>
          <a:xfrm>
            <a:off x="2609385" y="3914078"/>
            <a:ext cx="5241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B5AC60E8-7386-1E7C-0704-3B82F3173964}"/>
              </a:ext>
            </a:extLst>
          </p:cNvPr>
          <p:cNvCxnSpPr/>
          <p:nvPr/>
        </p:nvCxnSpPr>
        <p:spPr>
          <a:xfrm>
            <a:off x="1758176" y="3553524"/>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C2E26B6C-A37E-E950-8185-42567D12288B}"/>
              </a:ext>
            </a:extLst>
          </p:cNvPr>
          <p:cNvCxnSpPr>
            <a:cxnSpLocks/>
          </p:cNvCxnSpPr>
          <p:nvPr/>
        </p:nvCxnSpPr>
        <p:spPr>
          <a:xfrm flipH="1">
            <a:off x="1798134" y="3927086"/>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F2F27C7C-E0B8-6D76-33FD-54E6BDF63198}"/>
              </a:ext>
            </a:extLst>
          </p:cNvPr>
          <p:cNvCxnSpPr/>
          <p:nvPr/>
        </p:nvCxnSpPr>
        <p:spPr>
          <a:xfrm>
            <a:off x="5341434" y="3551665"/>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7DA8F6C0-DD67-527C-AB01-BF2BA0E2AFA4}"/>
              </a:ext>
            </a:extLst>
          </p:cNvPr>
          <p:cNvCxnSpPr>
            <a:cxnSpLocks/>
          </p:cNvCxnSpPr>
          <p:nvPr/>
        </p:nvCxnSpPr>
        <p:spPr>
          <a:xfrm flipH="1">
            <a:off x="5381392" y="3925227"/>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9BD34B9-9FCE-6ED7-9A64-5B350E53EE76}"/>
              </a:ext>
            </a:extLst>
          </p:cNvPr>
          <p:cNvCxnSpPr/>
          <p:nvPr/>
        </p:nvCxnSpPr>
        <p:spPr>
          <a:xfrm>
            <a:off x="5698273" y="3278459"/>
            <a:ext cx="0" cy="93670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016890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76FEF-85F3-996C-8833-7537BFF87591}"/>
              </a:ext>
            </a:extLst>
          </p:cNvPr>
          <p:cNvSpPr>
            <a:spLocks noGrp="1"/>
          </p:cNvSpPr>
          <p:nvPr>
            <p:ph type="title"/>
          </p:nvPr>
        </p:nvSpPr>
        <p:spPr/>
        <p:txBody>
          <a:bodyPr/>
          <a:lstStyle/>
          <a:p>
            <a:r>
              <a:rPr lang="en-US" dirty="0"/>
              <a:t>Repudiation </a:t>
            </a:r>
          </a:p>
        </p:txBody>
      </p:sp>
      <p:sp>
        <p:nvSpPr>
          <p:cNvPr id="3" name="Content Placeholder 2">
            <a:extLst>
              <a:ext uri="{FF2B5EF4-FFF2-40B4-BE49-F238E27FC236}">
                <a16:creationId xmlns:a16="http://schemas.microsoft.com/office/drawing/2014/main" id="{70A50213-8292-62F3-1D60-962D46699139}"/>
              </a:ext>
            </a:extLst>
          </p:cNvPr>
          <p:cNvSpPr>
            <a:spLocks noGrp="1"/>
          </p:cNvSpPr>
          <p:nvPr>
            <p:ph idx="1"/>
          </p:nvPr>
        </p:nvSpPr>
        <p:spPr/>
        <p:txBody>
          <a:bodyPr/>
          <a:lstStyle/>
          <a:p>
            <a:r>
              <a:rPr lang="en-US" dirty="0"/>
              <a:t>Someone with or without malicious intent takes an action but claims otherwise</a:t>
            </a:r>
          </a:p>
          <a:p>
            <a:endParaRPr lang="en-US" b="1" dirty="0"/>
          </a:p>
          <a:p>
            <a:endParaRPr lang="en-US" b="1" dirty="0"/>
          </a:p>
          <a:p>
            <a:endParaRPr lang="en-US" b="1" dirty="0"/>
          </a:p>
          <a:p>
            <a:r>
              <a:rPr lang="en-US" dirty="0"/>
              <a:t>How to prevent it ? Creating and protecting security logs</a:t>
            </a:r>
          </a:p>
        </p:txBody>
      </p:sp>
      <p:sp>
        <p:nvSpPr>
          <p:cNvPr id="4" name="Content Placeholder 2">
            <a:extLst>
              <a:ext uri="{FF2B5EF4-FFF2-40B4-BE49-F238E27FC236}">
                <a16:creationId xmlns:a16="http://schemas.microsoft.com/office/drawing/2014/main" id="{91C4B39B-593C-FBB0-FFCC-4AF36BB2CC68}"/>
              </a:ext>
            </a:extLst>
          </p:cNvPr>
          <p:cNvSpPr txBox="1">
            <a:spLocks/>
          </p:cNvSpPr>
          <p:nvPr/>
        </p:nvSpPr>
        <p:spPr>
          <a:xfrm>
            <a:off x="838200" y="271772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Interaction between elements : </a:t>
            </a:r>
          </a:p>
          <a:p>
            <a:pPr marL="0" indent="0">
              <a:buFont typeface="Arial" panose="020B0604020202020204" pitchFamily="34" charset="0"/>
              <a:buNone/>
            </a:pPr>
            <a:endParaRPr lang="en-US" dirty="0"/>
          </a:p>
        </p:txBody>
      </p:sp>
      <p:sp>
        <p:nvSpPr>
          <p:cNvPr id="5" name="Oval 4">
            <a:extLst>
              <a:ext uri="{FF2B5EF4-FFF2-40B4-BE49-F238E27FC236}">
                <a16:creationId xmlns:a16="http://schemas.microsoft.com/office/drawing/2014/main" id="{D0F3DEF9-0E68-B0AC-0595-7DA2126C9F34}"/>
              </a:ext>
            </a:extLst>
          </p:cNvPr>
          <p:cNvSpPr/>
          <p:nvPr/>
        </p:nvSpPr>
        <p:spPr>
          <a:xfrm>
            <a:off x="1137424" y="3289608"/>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8199909-0A9E-DC9A-741A-FF946FFB2BF7}"/>
              </a:ext>
            </a:extLst>
          </p:cNvPr>
          <p:cNvSpPr/>
          <p:nvPr/>
        </p:nvSpPr>
        <p:spPr>
          <a:xfrm>
            <a:off x="2371492" y="3289608"/>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FFE1153-D7B0-1CC2-B4D6-CC328D28C8B3}"/>
              </a:ext>
            </a:extLst>
          </p:cNvPr>
          <p:cNvSpPr/>
          <p:nvPr/>
        </p:nvSpPr>
        <p:spPr>
          <a:xfrm>
            <a:off x="3765395" y="3289607"/>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2ACBE28-7AD7-1533-9830-DD510CEAE4E9}"/>
              </a:ext>
            </a:extLst>
          </p:cNvPr>
          <p:cNvSpPr/>
          <p:nvPr/>
        </p:nvSpPr>
        <p:spPr>
          <a:xfrm>
            <a:off x="6726044" y="3289607"/>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127AD9B-8904-0247-5B20-808043A5B5E8}"/>
              </a:ext>
            </a:extLst>
          </p:cNvPr>
          <p:cNvSpPr/>
          <p:nvPr/>
        </p:nvSpPr>
        <p:spPr>
          <a:xfrm>
            <a:off x="8028878" y="3328634"/>
            <a:ext cx="479502" cy="401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572D4437-6E15-1C25-6E2F-0BAEBBE50600}"/>
              </a:ext>
            </a:extLst>
          </p:cNvPr>
          <p:cNvCxnSpPr/>
          <p:nvPr/>
        </p:nvCxnSpPr>
        <p:spPr>
          <a:xfrm>
            <a:off x="5207619" y="3428999"/>
            <a:ext cx="5241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127EEB5-3BBD-0AD8-1845-C8BCFEA6E510}"/>
              </a:ext>
            </a:extLst>
          </p:cNvPr>
          <p:cNvCxnSpPr/>
          <p:nvPr/>
        </p:nvCxnSpPr>
        <p:spPr>
          <a:xfrm>
            <a:off x="5207618" y="3791412"/>
            <a:ext cx="5241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71CF60CE-C440-2216-DCFF-BF73AC7D5474}"/>
              </a:ext>
            </a:extLst>
          </p:cNvPr>
          <p:cNvCxnSpPr/>
          <p:nvPr/>
        </p:nvCxnSpPr>
        <p:spPr>
          <a:xfrm>
            <a:off x="1616926" y="3428999"/>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CBD5FEE-1540-E7DF-AD0D-E893401771B4}"/>
              </a:ext>
            </a:extLst>
          </p:cNvPr>
          <p:cNvCxnSpPr/>
          <p:nvPr/>
        </p:nvCxnSpPr>
        <p:spPr>
          <a:xfrm>
            <a:off x="4356409" y="3430858"/>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97FD8AD-F9DA-FCC2-F7B8-7F82FF139F4E}"/>
              </a:ext>
            </a:extLst>
          </p:cNvPr>
          <p:cNvCxnSpPr/>
          <p:nvPr/>
        </p:nvCxnSpPr>
        <p:spPr>
          <a:xfrm>
            <a:off x="7274312" y="3421565"/>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87C2975-3124-DE15-6F72-48E5467F3FD1}"/>
              </a:ext>
            </a:extLst>
          </p:cNvPr>
          <p:cNvCxnSpPr>
            <a:cxnSpLocks/>
          </p:cNvCxnSpPr>
          <p:nvPr/>
        </p:nvCxnSpPr>
        <p:spPr>
          <a:xfrm flipH="1">
            <a:off x="7205546" y="3730080"/>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505B12A-92CA-A3B4-CBFF-8482811CA712}"/>
              </a:ext>
            </a:extLst>
          </p:cNvPr>
          <p:cNvCxnSpPr>
            <a:cxnSpLocks/>
          </p:cNvCxnSpPr>
          <p:nvPr/>
        </p:nvCxnSpPr>
        <p:spPr>
          <a:xfrm flipH="1">
            <a:off x="4396367" y="3804420"/>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B736EE65-DE9C-2BD3-88AF-9E3A5FFD8ADA}"/>
              </a:ext>
            </a:extLst>
          </p:cNvPr>
          <p:cNvCxnSpPr>
            <a:cxnSpLocks/>
          </p:cNvCxnSpPr>
          <p:nvPr/>
        </p:nvCxnSpPr>
        <p:spPr>
          <a:xfrm flipH="1">
            <a:off x="1616926" y="3730080"/>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2076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B5105-EEAB-1AE3-3D0E-19D7C950B8FA}"/>
              </a:ext>
            </a:extLst>
          </p:cNvPr>
          <p:cNvSpPr>
            <a:spLocks noGrp="1"/>
          </p:cNvSpPr>
          <p:nvPr>
            <p:ph type="title"/>
          </p:nvPr>
        </p:nvSpPr>
        <p:spPr/>
        <p:txBody>
          <a:bodyPr/>
          <a:lstStyle/>
          <a:p>
            <a:r>
              <a:rPr lang="en-US" dirty="0"/>
              <a:t>Information disclosure</a:t>
            </a:r>
          </a:p>
        </p:txBody>
      </p:sp>
      <p:sp>
        <p:nvSpPr>
          <p:cNvPr id="3" name="Content Placeholder 2">
            <a:extLst>
              <a:ext uri="{FF2B5EF4-FFF2-40B4-BE49-F238E27FC236}">
                <a16:creationId xmlns:a16="http://schemas.microsoft.com/office/drawing/2014/main" id="{331729C2-E5F6-2EF1-9103-81A7AF5B9D37}"/>
              </a:ext>
            </a:extLst>
          </p:cNvPr>
          <p:cNvSpPr>
            <a:spLocks noGrp="1"/>
          </p:cNvSpPr>
          <p:nvPr>
            <p:ph idx="1"/>
          </p:nvPr>
        </p:nvSpPr>
        <p:spPr/>
        <p:txBody>
          <a:bodyPr/>
          <a:lstStyle/>
          <a:p>
            <a:r>
              <a:rPr lang="en-US" dirty="0"/>
              <a:t>Sensitive data exposed to unauthorized users</a:t>
            </a:r>
          </a:p>
          <a:p>
            <a:r>
              <a:rPr lang="en-US" dirty="0"/>
              <a:t>Elements and interactions at risk</a:t>
            </a:r>
          </a:p>
          <a:p>
            <a:endParaRPr lang="en-US" dirty="0"/>
          </a:p>
          <a:p>
            <a:endParaRPr lang="en-US" dirty="0"/>
          </a:p>
          <a:p>
            <a:r>
              <a:rPr lang="en-US" dirty="0"/>
              <a:t>How to prevent it ? confidentiality</a:t>
            </a:r>
          </a:p>
          <a:p>
            <a:endParaRPr lang="en-US" dirty="0"/>
          </a:p>
          <a:p>
            <a:pPr marL="0" indent="0">
              <a:buNone/>
            </a:pPr>
            <a:endParaRPr lang="en-US" dirty="0"/>
          </a:p>
          <a:p>
            <a:endParaRPr lang="en-US" dirty="0"/>
          </a:p>
        </p:txBody>
      </p:sp>
      <p:sp>
        <p:nvSpPr>
          <p:cNvPr id="4" name="Oval 3">
            <a:extLst>
              <a:ext uri="{FF2B5EF4-FFF2-40B4-BE49-F238E27FC236}">
                <a16:creationId xmlns:a16="http://schemas.microsoft.com/office/drawing/2014/main" id="{CF3481EA-C352-0240-024C-40C2244E8979}"/>
              </a:ext>
            </a:extLst>
          </p:cNvPr>
          <p:cNvSpPr/>
          <p:nvPr/>
        </p:nvSpPr>
        <p:spPr>
          <a:xfrm>
            <a:off x="1092820" y="2927195"/>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CA1A53C-0C1D-B1F1-A09D-E9331F56D259}"/>
              </a:ext>
            </a:extLst>
          </p:cNvPr>
          <p:cNvSpPr/>
          <p:nvPr/>
        </p:nvSpPr>
        <p:spPr>
          <a:xfrm>
            <a:off x="2326888" y="2927195"/>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9608BA4-626A-E6B6-3AB8-D0925D56A587}"/>
              </a:ext>
            </a:extLst>
          </p:cNvPr>
          <p:cNvSpPr/>
          <p:nvPr/>
        </p:nvSpPr>
        <p:spPr>
          <a:xfrm>
            <a:off x="3720791" y="2927194"/>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7FD33BA-148E-C910-7C89-326BDBA16D47}"/>
              </a:ext>
            </a:extLst>
          </p:cNvPr>
          <p:cNvSpPr/>
          <p:nvPr/>
        </p:nvSpPr>
        <p:spPr>
          <a:xfrm>
            <a:off x="7984274" y="2966221"/>
            <a:ext cx="479502" cy="401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56D62552-45F9-3700-4C0C-4DDC884CDCD4}"/>
              </a:ext>
            </a:extLst>
          </p:cNvPr>
          <p:cNvCxnSpPr>
            <a:cxnSpLocks/>
          </p:cNvCxnSpPr>
          <p:nvPr/>
        </p:nvCxnSpPr>
        <p:spPr>
          <a:xfrm>
            <a:off x="5163015" y="3066586"/>
            <a:ext cx="5241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EE2DB17-0E74-28AC-71FC-D0DFB0A66EB4}"/>
              </a:ext>
            </a:extLst>
          </p:cNvPr>
          <p:cNvCxnSpPr>
            <a:cxnSpLocks/>
          </p:cNvCxnSpPr>
          <p:nvPr/>
        </p:nvCxnSpPr>
        <p:spPr>
          <a:xfrm>
            <a:off x="5163014" y="3428999"/>
            <a:ext cx="5241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DF06998D-01C3-A56E-41A4-E482575E60E0}"/>
              </a:ext>
            </a:extLst>
          </p:cNvPr>
          <p:cNvCxnSpPr>
            <a:cxnSpLocks/>
          </p:cNvCxnSpPr>
          <p:nvPr/>
        </p:nvCxnSpPr>
        <p:spPr>
          <a:xfrm>
            <a:off x="1572322" y="3066586"/>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AD6D56B-4DD6-9522-255E-8FC9894E516D}"/>
              </a:ext>
            </a:extLst>
          </p:cNvPr>
          <p:cNvCxnSpPr>
            <a:cxnSpLocks/>
          </p:cNvCxnSpPr>
          <p:nvPr/>
        </p:nvCxnSpPr>
        <p:spPr>
          <a:xfrm>
            <a:off x="4311805" y="3068445"/>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90295877-FF2D-A1D6-265C-668B8A3B3BE5}"/>
              </a:ext>
            </a:extLst>
          </p:cNvPr>
          <p:cNvCxnSpPr>
            <a:cxnSpLocks/>
          </p:cNvCxnSpPr>
          <p:nvPr/>
        </p:nvCxnSpPr>
        <p:spPr>
          <a:xfrm>
            <a:off x="7229708" y="3059152"/>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F83C17A-DE35-204C-5D07-A8E322B27501}"/>
              </a:ext>
            </a:extLst>
          </p:cNvPr>
          <p:cNvCxnSpPr>
            <a:cxnSpLocks/>
          </p:cNvCxnSpPr>
          <p:nvPr/>
        </p:nvCxnSpPr>
        <p:spPr>
          <a:xfrm flipH="1">
            <a:off x="7160942" y="3367667"/>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DFCC9EA7-3EBD-27D8-F3A2-B91DA653FF7A}"/>
              </a:ext>
            </a:extLst>
          </p:cNvPr>
          <p:cNvCxnSpPr>
            <a:cxnSpLocks/>
          </p:cNvCxnSpPr>
          <p:nvPr/>
        </p:nvCxnSpPr>
        <p:spPr>
          <a:xfrm flipH="1">
            <a:off x="4351763" y="3442007"/>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BE27880-5392-0F80-5318-FDBCC0F1C968}"/>
              </a:ext>
            </a:extLst>
          </p:cNvPr>
          <p:cNvCxnSpPr/>
          <p:nvPr/>
        </p:nvCxnSpPr>
        <p:spPr>
          <a:xfrm>
            <a:off x="9534292" y="3005254"/>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4DC3C652-CE56-42AF-E598-88505C1CF89E}"/>
              </a:ext>
            </a:extLst>
          </p:cNvPr>
          <p:cNvCxnSpPr>
            <a:cxnSpLocks/>
          </p:cNvCxnSpPr>
          <p:nvPr/>
        </p:nvCxnSpPr>
        <p:spPr>
          <a:xfrm flipH="1">
            <a:off x="9574250" y="3378816"/>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C31FA201-957B-4489-6EF7-FAD7DB0A6CB5}"/>
              </a:ext>
            </a:extLst>
          </p:cNvPr>
          <p:cNvCxnSpPr/>
          <p:nvPr/>
        </p:nvCxnSpPr>
        <p:spPr>
          <a:xfrm>
            <a:off x="9891131" y="2732048"/>
            <a:ext cx="0" cy="93670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1851693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C4EEB-353E-ED96-212A-C193267E58F3}"/>
              </a:ext>
            </a:extLst>
          </p:cNvPr>
          <p:cNvSpPr>
            <a:spLocks noGrp="1"/>
          </p:cNvSpPr>
          <p:nvPr>
            <p:ph type="title"/>
          </p:nvPr>
        </p:nvSpPr>
        <p:spPr/>
        <p:txBody>
          <a:bodyPr/>
          <a:lstStyle/>
          <a:p>
            <a:r>
              <a:rPr lang="en-US" dirty="0"/>
              <a:t>Denial of service</a:t>
            </a:r>
          </a:p>
        </p:txBody>
      </p:sp>
      <p:sp>
        <p:nvSpPr>
          <p:cNvPr id="3" name="Content Placeholder 2">
            <a:extLst>
              <a:ext uri="{FF2B5EF4-FFF2-40B4-BE49-F238E27FC236}">
                <a16:creationId xmlns:a16="http://schemas.microsoft.com/office/drawing/2014/main" id="{73B3F1D0-79FB-0C19-F50A-6B260243D90E}"/>
              </a:ext>
            </a:extLst>
          </p:cNvPr>
          <p:cNvSpPr>
            <a:spLocks noGrp="1"/>
          </p:cNvSpPr>
          <p:nvPr>
            <p:ph idx="1"/>
          </p:nvPr>
        </p:nvSpPr>
        <p:spPr/>
        <p:txBody>
          <a:bodyPr/>
          <a:lstStyle/>
          <a:p>
            <a:r>
              <a:rPr lang="en-US" dirty="0"/>
              <a:t>Attacker causes the system to be unavailable</a:t>
            </a:r>
          </a:p>
          <a:p>
            <a:r>
              <a:rPr lang="en-US" dirty="0"/>
              <a:t>Elements and interactions at risk:</a:t>
            </a:r>
          </a:p>
          <a:p>
            <a:endParaRPr lang="en-US" dirty="0"/>
          </a:p>
          <a:p>
            <a:pPr marL="0" indent="0">
              <a:buNone/>
            </a:pPr>
            <a:endParaRPr lang="en-US" dirty="0"/>
          </a:p>
          <a:p>
            <a:pPr marL="0" indent="0">
              <a:buNone/>
            </a:pPr>
            <a:r>
              <a:rPr lang="en-US" dirty="0"/>
              <a:t>How to prevent it ? Availability</a:t>
            </a:r>
          </a:p>
          <a:p>
            <a:pPr marL="0" indent="0">
              <a:buNone/>
            </a:pPr>
            <a:endParaRPr lang="en-US" dirty="0"/>
          </a:p>
        </p:txBody>
      </p:sp>
      <p:sp>
        <p:nvSpPr>
          <p:cNvPr id="4" name="Oval 3">
            <a:extLst>
              <a:ext uri="{FF2B5EF4-FFF2-40B4-BE49-F238E27FC236}">
                <a16:creationId xmlns:a16="http://schemas.microsoft.com/office/drawing/2014/main" id="{3A804E22-DC22-37EC-2270-71763C9FF5D8}"/>
              </a:ext>
            </a:extLst>
          </p:cNvPr>
          <p:cNvSpPr/>
          <p:nvPr/>
        </p:nvSpPr>
        <p:spPr>
          <a:xfrm>
            <a:off x="1092820" y="2927195"/>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91725EF-576F-49C5-FA20-38E58A4EFEAB}"/>
              </a:ext>
            </a:extLst>
          </p:cNvPr>
          <p:cNvSpPr/>
          <p:nvPr/>
        </p:nvSpPr>
        <p:spPr>
          <a:xfrm>
            <a:off x="2326888" y="2927195"/>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0C3B9A5-1046-A8FD-81F3-49C3F1155FF7}"/>
              </a:ext>
            </a:extLst>
          </p:cNvPr>
          <p:cNvSpPr/>
          <p:nvPr/>
        </p:nvSpPr>
        <p:spPr>
          <a:xfrm>
            <a:off x="3720791" y="2927194"/>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91222A0-A599-04CC-D393-F8A9B8AC76A1}"/>
              </a:ext>
            </a:extLst>
          </p:cNvPr>
          <p:cNvSpPr/>
          <p:nvPr/>
        </p:nvSpPr>
        <p:spPr>
          <a:xfrm>
            <a:off x="7984274" y="2966221"/>
            <a:ext cx="479502" cy="401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83B2B7F4-D211-2FE5-6D2A-7B9B2887EE6B}"/>
              </a:ext>
            </a:extLst>
          </p:cNvPr>
          <p:cNvCxnSpPr>
            <a:cxnSpLocks/>
          </p:cNvCxnSpPr>
          <p:nvPr/>
        </p:nvCxnSpPr>
        <p:spPr>
          <a:xfrm>
            <a:off x="5163015" y="3066586"/>
            <a:ext cx="5241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53994493-FD23-94CB-6176-BFB997D1409C}"/>
              </a:ext>
            </a:extLst>
          </p:cNvPr>
          <p:cNvCxnSpPr>
            <a:cxnSpLocks/>
          </p:cNvCxnSpPr>
          <p:nvPr/>
        </p:nvCxnSpPr>
        <p:spPr>
          <a:xfrm>
            <a:off x="5163014" y="3428999"/>
            <a:ext cx="5241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E0DBC8B9-762C-C2A6-7CC8-735821FDEB50}"/>
              </a:ext>
            </a:extLst>
          </p:cNvPr>
          <p:cNvCxnSpPr>
            <a:cxnSpLocks/>
          </p:cNvCxnSpPr>
          <p:nvPr/>
        </p:nvCxnSpPr>
        <p:spPr>
          <a:xfrm>
            <a:off x="1572322" y="3066586"/>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E1D31C3-D076-6FBF-ABDB-4969FFB58851}"/>
              </a:ext>
            </a:extLst>
          </p:cNvPr>
          <p:cNvCxnSpPr>
            <a:cxnSpLocks/>
          </p:cNvCxnSpPr>
          <p:nvPr/>
        </p:nvCxnSpPr>
        <p:spPr>
          <a:xfrm>
            <a:off x="4311805" y="3068445"/>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79B51CE-8D02-54BC-C9A8-F0EECF66DB38}"/>
              </a:ext>
            </a:extLst>
          </p:cNvPr>
          <p:cNvCxnSpPr>
            <a:cxnSpLocks/>
          </p:cNvCxnSpPr>
          <p:nvPr/>
        </p:nvCxnSpPr>
        <p:spPr>
          <a:xfrm>
            <a:off x="7229708" y="3059152"/>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7736FBF-998F-0160-2F9C-DC537B81984B}"/>
              </a:ext>
            </a:extLst>
          </p:cNvPr>
          <p:cNvCxnSpPr>
            <a:cxnSpLocks/>
          </p:cNvCxnSpPr>
          <p:nvPr/>
        </p:nvCxnSpPr>
        <p:spPr>
          <a:xfrm flipH="1">
            <a:off x="7160942" y="3367667"/>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C307312-8721-8E6B-5484-CEBC6443FD5C}"/>
              </a:ext>
            </a:extLst>
          </p:cNvPr>
          <p:cNvCxnSpPr>
            <a:cxnSpLocks/>
          </p:cNvCxnSpPr>
          <p:nvPr/>
        </p:nvCxnSpPr>
        <p:spPr>
          <a:xfrm flipH="1">
            <a:off x="4351763" y="3442007"/>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E7DE615-D757-07EC-94DD-287715B47FC8}"/>
              </a:ext>
            </a:extLst>
          </p:cNvPr>
          <p:cNvCxnSpPr/>
          <p:nvPr/>
        </p:nvCxnSpPr>
        <p:spPr>
          <a:xfrm>
            <a:off x="9534292" y="3005254"/>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309B2A8-B42A-804D-9891-D09611495172}"/>
              </a:ext>
            </a:extLst>
          </p:cNvPr>
          <p:cNvCxnSpPr>
            <a:cxnSpLocks/>
          </p:cNvCxnSpPr>
          <p:nvPr/>
        </p:nvCxnSpPr>
        <p:spPr>
          <a:xfrm flipH="1">
            <a:off x="9574250" y="3378816"/>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A4FFC730-B980-6C64-EEE3-A8F093D7C86C}"/>
              </a:ext>
            </a:extLst>
          </p:cNvPr>
          <p:cNvCxnSpPr/>
          <p:nvPr/>
        </p:nvCxnSpPr>
        <p:spPr>
          <a:xfrm>
            <a:off x="9891131" y="2732048"/>
            <a:ext cx="0" cy="93670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6827369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C9073-B1C1-800A-799A-7939831C30DC}"/>
              </a:ext>
            </a:extLst>
          </p:cNvPr>
          <p:cNvSpPr>
            <a:spLocks noGrp="1"/>
          </p:cNvSpPr>
          <p:nvPr>
            <p:ph type="title"/>
          </p:nvPr>
        </p:nvSpPr>
        <p:spPr/>
        <p:txBody>
          <a:bodyPr/>
          <a:lstStyle/>
          <a:p>
            <a:r>
              <a:rPr lang="en-US" dirty="0"/>
              <a:t>Elevation of privilege </a:t>
            </a:r>
          </a:p>
        </p:txBody>
      </p:sp>
      <p:sp>
        <p:nvSpPr>
          <p:cNvPr id="3" name="Content Placeholder 2">
            <a:extLst>
              <a:ext uri="{FF2B5EF4-FFF2-40B4-BE49-F238E27FC236}">
                <a16:creationId xmlns:a16="http://schemas.microsoft.com/office/drawing/2014/main" id="{09440EF4-EA06-286C-F303-E877A605734C}"/>
              </a:ext>
            </a:extLst>
          </p:cNvPr>
          <p:cNvSpPr>
            <a:spLocks noGrp="1"/>
          </p:cNvSpPr>
          <p:nvPr>
            <p:ph idx="1"/>
          </p:nvPr>
        </p:nvSpPr>
        <p:spPr/>
        <p:txBody>
          <a:bodyPr/>
          <a:lstStyle/>
          <a:p>
            <a:r>
              <a:rPr lang="en-US" dirty="0"/>
              <a:t>Having permissions, I should not have</a:t>
            </a:r>
          </a:p>
          <a:p>
            <a:endParaRPr lang="en-US" dirty="0"/>
          </a:p>
          <a:p>
            <a:endParaRPr lang="en-US" dirty="0"/>
          </a:p>
          <a:p>
            <a:r>
              <a:rPr lang="en-US" dirty="0"/>
              <a:t>How to prevent it : Authorization</a:t>
            </a:r>
          </a:p>
        </p:txBody>
      </p:sp>
      <p:sp>
        <p:nvSpPr>
          <p:cNvPr id="4" name="Oval 3">
            <a:extLst>
              <a:ext uri="{FF2B5EF4-FFF2-40B4-BE49-F238E27FC236}">
                <a16:creationId xmlns:a16="http://schemas.microsoft.com/office/drawing/2014/main" id="{499A9B2E-4B0B-3B58-9A2A-3397E74E4551}"/>
              </a:ext>
            </a:extLst>
          </p:cNvPr>
          <p:cNvSpPr/>
          <p:nvPr/>
        </p:nvSpPr>
        <p:spPr>
          <a:xfrm>
            <a:off x="1081669" y="2425390"/>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046CEB1-659F-5914-506C-1A7F640BE376}"/>
              </a:ext>
            </a:extLst>
          </p:cNvPr>
          <p:cNvSpPr/>
          <p:nvPr/>
        </p:nvSpPr>
        <p:spPr>
          <a:xfrm>
            <a:off x="2315737" y="2425390"/>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E63344A-151E-1DE8-C0DE-555A9C5BC1EB}"/>
              </a:ext>
            </a:extLst>
          </p:cNvPr>
          <p:cNvSpPr/>
          <p:nvPr/>
        </p:nvSpPr>
        <p:spPr>
          <a:xfrm>
            <a:off x="3709640" y="2425389"/>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0AB086A-38D6-60B8-F3BB-C8CE9431BCA4}"/>
              </a:ext>
            </a:extLst>
          </p:cNvPr>
          <p:cNvSpPr/>
          <p:nvPr/>
        </p:nvSpPr>
        <p:spPr>
          <a:xfrm>
            <a:off x="7973123" y="2464416"/>
            <a:ext cx="479502" cy="401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0BEAC666-D081-4450-A962-7F408E3FDF4B}"/>
              </a:ext>
            </a:extLst>
          </p:cNvPr>
          <p:cNvCxnSpPr>
            <a:cxnSpLocks/>
          </p:cNvCxnSpPr>
          <p:nvPr/>
        </p:nvCxnSpPr>
        <p:spPr>
          <a:xfrm>
            <a:off x="5151864" y="2564781"/>
            <a:ext cx="5241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78671A0-035E-0094-1639-F1860EA6E9B6}"/>
              </a:ext>
            </a:extLst>
          </p:cNvPr>
          <p:cNvCxnSpPr>
            <a:cxnSpLocks/>
          </p:cNvCxnSpPr>
          <p:nvPr/>
        </p:nvCxnSpPr>
        <p:spPr>
          <a:xfrm>
            <a:off x="5151863" y="2927194"/>
            <a:ext cx="5241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E4E9184D-81F8-7976-D0FA-72A019DDDC44}"/>
              </a:ext>
            </a:extLst>
          </p:cNvPr>
          <p:cNvCxnSpPr>
            <a:cxnSpLocks/>
          </p:cNvCxnSpPr>
          <p:nvPr/>
        </p:nvCxnSpPr>
        <p:spPr>
          <a:xfrm>
            <a:off x="1561171" y="2564781"/>
            <a:ext cx="7545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38511969-1693-4D22-06CC-3371511C5A8D}"/>
              </a:ext>
            </a:extLst>
          </p:cNvPr>
          <p:cNvCxnSpPr>
            <a:cxnSpLocks/>
          </p:cNvCxnSpPr>
          <p:nvPr/>
        </p:nvCxnSpPr>
        <p:spPr>
          <a:xfrm flipH="1">
            <a:off x="7149791" y="2865862"/>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2D3BE36-20D4-8F2C-E3A5-B780360415E5}"/>
              </a:ext>
            </a:extLst>
          </p:cNvPr>
          <p:cNvCxnSpPr>
            <a:cxnSpLocks/>
          </p:cNvCxnSpPr>
          <p:nvPr/>
        </p:nvCxnSpPr>
        <p:spPr>
          <a:xfrm flipH="1">
            <a:off x="4340612" y="2940202"/>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7532DB8D-9AAE-EC99-35FF-BF4DBC4E6DC3}"/>
              </a:ext>
            </a:extLst>
          </p:cNvPr>
          <p:cNvSpPr/>
          <p:nvPr/>
        </p:nvSpPr>
        <p:spPr>
          <a:xfrm>
            <a:off x="6721398" y="2425388"/>
            <a:ext cx="479502" cy="5018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25666771-6C3C-4110-372C-AD5A9B1E97CD}"/>
              </a:ext>
            </a:extLst>
          </p:cNvPr>
          <p:cNvCxnSpPr>
            <a:cxnSpLocks/>
          </p:cNvCxnSpPr>
          <p:nvPr/>
        </p:nvCxnSpPr>
        <p:spPr>
          <a:xfrm flipH="1">
            <a:off x="1601129" y="2858425"/>
            <a:ext cx="6746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13224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B15B5-D558-45BA-E2F9-21FD26C28872}"/>
              </a:ext>
            </a:extLst>
          </p:cNvPr>
          <p:cNvSpPr>
            <a:spLocks noGrp="1"/>
          </p:cNvSpPr>
          <p:nvPr>
            <p:ph type="title"/>
          </p:nvPr>
        </p:nvSpPr>
        <p:spPr/>
        <p:txBody>
          <a:bodyPr/>
          <a:lstStyle/>
          <a:p>
            <a:r>
              <a:rPr lang="en-US" dirty="0"/>
              <a:t>Prioritizing issues</a:t>
            </a:r>
          </a:p>
        </p:txBody>
      </p:sp>
      <p:sp>
        <p:nvSpPr>
          <p:cNvPr id="3" name="Content Placeholder 2">
            <a:extLst>
              <a:ext uri="{FF2B5EF4-FFF2-40B4-BE49-F238E27FC236}">
                <a16:creationId xmlns:a16="http://schemas.microsoft.com/office/drawing/2014/main" id="{B20322C0-73EE-2EA4-2AC1-4EEDF9D7688D}"/>
              </a:ext>
            </a:extLst>
          </p:cNvPr>
          <p:cNvSpPr>
            <a:spLocks noGrp="1"/>
          </p:cNvSpPr>
          <p:nvPr>
            <p:ph idx="1"/>
          </p:nvPr>
        </p:nvSpPr>
        <p:spPr/>
        <p:txBody>
          <a:bodyPr/>
          <a:lstStyle/>
          <a:p>
            <a:r>
              <a:rPr lang="en-US" dirty="0"/>
              <a:t>Prioritizing issues is an important piece of threat modeling. It helps to distribute your limited resources to the most critical issues</a:t>
            </a:r>
          </a:p>
          <a:p>
            <a:r>
              <a:rPr lang="en-US" dirty="0"/>
              <a:t>When to prioritize? Assign a priority to each issue according to its risk factor. Select security controls that work with others to help provide a layered security protection mechanism for your system.</a:t>
            </a:r>
          </a:p>
          <a:p>
            <a:r>
              <a:rPr lang="en-US" dirty="0"/>
              <a:t>Threat modeling = a lot of detections so we should prioritize </a:t>
            </a:r>
          </a:p>
        </p:txBody>
      </p:sp>
    </p:spTree>
    <p:extLst>
      <p:ext uri="{BB962C8B-B14F-4D97-AF65-F5344CB8AC3E}">
        <p14:creationId xmlns:p14="http://schemas.microsoft.com/office/powerpoint/2010/main" val="22434270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9A74E-5B0C-F7A6-774D-3A5D9DA84325}"/>
              </a:ext>
            </a:extLst>
          </p:cNvPr>
          <p:cNvSpPr>
            <a:spLocks noGrp="1"/>
          </p:cNvSpPr>
          <p:nvPr>
            <p:ph type="title"/>
          </p:nvPr>
        </p:nvSpPr>
        <p:spPr/>
        <p:txBody>
          <a:bodyPr/>
          <a:lstStyle/>
          <a:p>
            <a:r>
              <a:rPr lang="en-US" dirty="0"/>
              <a:t>How to start?</a:t>
            </a:r>
          </a:p>
        </p:txBody>
      </p:sp>
      <p:sp>
        <p:nvSpPr>
          <p:cNvPr id="3" name="Content Placeholder 2">
            <a:extLst>
              <a:ext uri="{FF2B5EF4-FFF2-40B4-BE49-F238E27FC236}">
                <a16:creationId xmlns:a16="http://schemas.microsoft.com/office/drawing/2014/main" id="{425FEB61-F899-B201-BD5B-A037DC8F32D7}"/>
              </a:ext>
            </a:extLst>
          </p:cNvPr>
          <p:cNvSpPr>
            <a:spLocks noGrp="1"/>
          </p:cNvSpPr>
          <p:nvPr>
            <p:ph idx="1"/>
          </p:nvPr>
        </p:nvSpPr>
        <p:spPr/>
        <p:txBody>
          <a:bodyPr/>
          <a:lstStyle/>
          <a:p>
            <a:r>
              <a:rPr lang="en-US" dirty="0"/>
              <a:t>Determine how critical the issue could be to the system </a:t>
            </a:r>
          </a:p>
          <a:p>
            <a:r>
              <a:rPr lang="en-US" dirty="0"/>
              <a:t>Select the security controls that help provide the most protection at the lowest possible cost</a:t>
            </a:r>
          </a:p>
          <a:p>
            <a:pPr marL="0" indent="0">
              <a:buNone/>
            </a:pPr>
            <a:endParaRPr lang="en-US" dirty="0"/>
          </a:p>
        </p:txBody>
      </p:sp>
    </p:spTree>
    <p:extLst>
      <p:ext uri="{BB962C8B-B14F-4D97-AF65-F5344CB8AC3E}">
        <p14:creationId xmlns:p14="http://schemas.microsoft.com/office/powerpoint/2010/main" val="14579427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CB3D5-07FC-1D23-87A6-7C6288905348}"/>
              </a:ext>
            </a:extLst>
          </p:cNvPr>
          <p:cNvSpPr>
            <a:spLocks noGrp="1"/>
          </p:cNvSpPr>
          <p:nvPr>
            <p:ph type="title"/>
          </p:nvPr>
        </p:nvSpPr>
        <p:spPr/>
        <p:txBody>
          <a:bodyPr/>
          <a:lstStyle/>
          <a:p>
            <a:r>
              <a:rPr lang="en-US" dirty="0"/>
              <a:t>Determine priority of security issues </a:t>
            </a:r>
          </a:p>
        </p:txBody>
      </p:sp>
      <p:sp>
        <p:nvSpPr>
          <p:cNvPr id="3" name="Content Placeholder 2">
            <a:extLst>
              <a:ext uri="{FF2B5EF4-FFF2-40B4-BE49-F238E27FC236}">
                <a16:creationId xmlns:a16="http://schemas.microsoft.com/office/drawing/2014/main" id="{075D0EC3-AADF-28D8-EB85-F0C4CE77DCE6}"/>
              </a:ext>
            </a:extLst>
          </p:cNvPr>
          <p:cNvSpPr>
            <a:spLocks noGrp="1"/>
          </p:cNvSpPr>
          <p:nvPr>
            <p:ph idx="1"/>
          </p:nvPr>
        </p:nvSpPr>
        <p:spPr/>
        <p:txBody>
          <a:bodyPr/>
          <a:lstStyle/>
          <a:p>
            <a:r>
              <a:rPr lang="en-US" dirty="0"/>
              <a:t>Types and functions:</a:t>
            </a:r>
          </a:p>
          <a:p>
            <a:pPr marL="514350" indent="-514350">
              <a:buFont typeface="+mj-lt"/>
              <a:buAutoNum type="arabicPeriod"/>
            </a:pPr>
            <a:r>
              <a:rPr lang="en-US" dirty="0"/>
              <a:t>Security controls have different types and functions:</a:t>
            </a:r>
          </a:p>
          <a:p>
            <a:pPr marL="971550" lvl="1" indent="-514350">
              <a:buFont typeface="+mj-lt"/>
              <a:buAutoNum type="romanUcPeriod"/>
            </a:pPr>
            <a:r>
              <a:rPr lang="en-US" dirty="0"/>
              <a:t>Physical</a:t>
            </a:r>
          </a:p>
          <a:p>
            <a:pPr marL="971550" lvl="1" indent="-514350">
              <a:buFont typeface="+mj-lt"/>
              <a:buAutoNum type="romanUcPeriod"/>
            </a:pPr>
            <a:r>
              <a:rPr lang="en-US" dirty="0"/>
              <a:t>Technical</a:t>
            </a:r>
          </a:p>
          <a:p>
            <a:pPr marL="971550" lvl="1" indent="-514350">
              <a:buFont typeface="+mj-lt"/>
              <a:buAutoNum type="romanUcPeriod"/>
            </a:pPr>
            <a:r>
              <a:rPr lang="en-US" dirty="0"/>
              <a:t>Administrative  </a:t>
            </a:r>
          </a:p>
          <a:p>
            <a:pPr marL="514350" indent="-514350">
              <a:buFont typeface="+mj-lt"/>
              <a:buAutoNum type="arabicPeriod"/>
            </a:pPr>
            <a:endParaRPr lang="en-US" dirty="0"/>
          </a:p>
        </p:txBody>
      </p:sp>
    </p:spTree>
    <p:extLst>
      <p:ext uri="{BB962C8B-B14F-4D97-AF65-F5344CB8AC3E}">
        <p14:creationId xmlns:p14="http://schemas.microsoft.com/office/powerpoint/2010/main" val="18304437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65F41-E5DC-28B5-C9B6-19A0DBFFFDC1}"/>
              </a:ext>
            </a:extLst>
          </p:cNvPr>
          <p:cNvSpPr>
            <a:spLocks noGrp="1"/>
          </p:cNvSpPr>
          <p:nvPr>
            <p:ph type="title"/>
          </p:nvPr>
        </p:nvSpPr>
        <p:spPr/>
        <p:txBody>
          <a:bodyPr/>
          <a:lstStyle/>
          <a:p>
            <a:r>
              <a:rPr lang="en-US" dirty="0"/>
              <a:t>Prioritize security issues</a:t>
            </a:r>
          </a:p>
        </p:txBody>
      </p:sp>
      <p:sp>
        <p:nvSpPr>
          <p:cNvPr id="3" name="Content Placeholder 2">
            <a:extLst>
              <a:ext uri="{FF2B5EF4-FFF2-40B4-BE49-F238E27FC236}">
                <a16:creationId xmlns:a16="http://schemas.microsoft.com/office/drawing/2014/main" id="{BB4F9AC1-BB55-FB9D-C738-66D16FCA3EB2}"/>
              </a:ext>
            </a:extLst>
          </p:cNvPr>
          <p:cNvSpPr>
            <a:spLocks noGrp="1"/>
          </p:cNvSpPr>
          <p:nvPr>
            <p:ph idx="1"/>
          </p:nvPr>
        </p:nvSpPr>
        <p:spPr/>
        <p:txBody>
          <a:bodyPr/>
          <a:lstStyle/>
          <a:p>
            <a:r>
              <a:rPr lang="en-US" dirty="0"/>
              <a:t>Generate the list of threats with ways to reduce or eliminate risk</a:t>
            </a:r>
          </a:p>
          <a:p>
            <a:r>
              <a:rPr lang="en-US" dirty="0"/>
              <a:t>Choose the priority framework:</a:t>
            </a:r>
          </a:p>
          <a:p>
            <a:r>
              <a:rPr lang="en-US" dirty="0"/>
              <a:t>Security bug bar: table or model that classifies software security vulnerabilities by their severity and impact, establishing a minimum level of quality that must be met for a product to be released or updated</a:t>
            </a:r>
          </a:p>
        </p:txBody>
      </p:sp>
    </p:spTree>
    <p:extLst>
      <p:ext uri="{BB962C8B-B14F-4D97-AF65-F5344CB8AC3E}">
        <p14:creationId xmlns:p14="http://schemas.microsoft.com/office/powerpoint/2010/main" val="178921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467</TotalTime>
  <Words>1542</Words>
  <Application>Microsoft Macintosh PowerPoint</Application>
  <PresentationFormat>Widescreen</PresentationFormat>
  <Paragraphs>206</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Aptos</vt:lpstr>
      <vt:lpstr>Aptos Display</vt:lpstr>
      <vt:lpstr>Arial</vt:lpstr>
      <vt:lpstr>Wingdings</vt:lpstr>
      <vt:lpstr>Office Theme</vt:lpstr>
      <vt:lpstr>Threat Modeling</vt:lpstr>
      <vt:lpstr>Outline </vt:lpstr>
      <vt:lpstr>My new car to launch on the market!!!</vt:lpstr>
      <vt:lpstr>Threat modeling</vt:lpstr>
      <vt:lpstr>When do I threat model?</vt:lpstr>
      <vt:lpstr>Data Flow Diagram(DFD)</vt:lpstr>
      <vt:lpstr>Process</vt:lpstr>
      <vt:lpstr>Data store (the storage element)</vt:lpstr>
      <vt:lpstr>External entity (no control element)</vt:lpstr>
      <vt:lpstr>Data flow </vt:lpstr>
      <vt:lpstr>Trust boundary</vt:lpstr>
      <vt:lpstr>DFD depth layers</vt:lpstr>
      <vt:lpstr>Layer 0 – The system layer</vt:lpstr>
      <vt:lpstr>Layer 1 – The process layer </vt:lpstr>
      <vt:lpstr>Layer 2  - The subprocess layer</vt:lpstr>
      <vt:lpstr>Layer 3 – The lower – level layer</vt:lpstr>
      <vt:lpstr>Threat modeling phases</vt:lpstr>
      <vt:lpstr>Step1 : design</vt:lpstr>
      <vt:lpstr>PowerPoint Presentation</vt:lpstr>
      <vt:lpstr>Step 2 - Break</vt:lpstr>
      <vt:lpstr>STRIDE framework</vt:lpstr>
      <vt:lpstr>Step 3 – Fix </vt:lpstr>
      <vt:lpstr>Step 4 - Verify</vt:lpstr>
      <vt:lpstr>Threat modeling focused approaches</vt:lpstr>
      <vt:lpstr>System focused approach</vt:lpstr>
      <vt:lpstr>Attacker focused approach</vt:lpstr>
      <vt:lpstr>Asset focused approach</vt:lpstr>
      <vt:lpstr>Threat modeling framework </vt:lpstr>
      <vt:lpstr>Spoofing </vt:lpstr>
      <vt:lpstr>Tampering </vt:lpstr>
      <vt:lpstr>Repudiation </vt:lpstr>
      <vt:lpstr>Information disclosure</vt:lpstr>
      <vt:lpstr>Denial of service</vt:lpstr>
      <vt:lpstr>Elevation of privilege </vt:lpstr>
      <vt:lpstr>Prioritizing issues</vt:lpstr>
      <vt:lpstr>How to start?</vt:lpstr>
      <vt:lpstr>Determine priority of security issues </vt:lpstr>
      <vt:lpstr>Prioritize security issues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Macbook</dc:creator>
  <cp:lastModifiedBy>Macbook</cp:lastModifiedBy>
  <cp:revision>2</cp:revision>
  <dcterms:created xsi:type="dcterms:W3CDTF">2025-09-13T13:37:41Z</dcterms:created>
  <dcterms:modified xsi:type="dcterms:W3CDTF">2025-09-13T21:24:49Z</dcterms:modified>
</cp:coreProperties>
</file>