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6"/>
    <p:restoredTop sz="94633"/>
  </p:normalViewPr>
  <p:slideViewPr>
    <p:cSldViewPr snapToGrid="0">
      <p:cViewPr>
        <p:scale>
          <a:sx n="114" d="100"/>
          <a:sy n="114" d="100"/>
        </p:scale>
        <p:origin x="1824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2944-1428-FEF2-5CEF-A559A4DB9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698511-2DF3-48B3-9E91-8AF7DFE80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67D06-A12D-FF5A-F06D-B2AF4507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EB69-2DAF-DA40-BBCF-EB672E94D28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6C410-5782-77CD-1818-C6EF83EBF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23ACC-2DF1-76E9-0ECD-50F1B7C1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D52D-635F-6E43-9B3B-EE71037E7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61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B5E6-2166-F02B-A285-0B3AC269E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C687B-8363-8B4C-EF25-FFE407E63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A95DD-5D30-0464-F674-2EFC5A11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EB69-2DAF-DA40-BBCF-EB672E94D28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88353-6E38-3EE5-9C6C-A89BD9729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0B4F6-930B-CDD2-9F85-BA38ABB9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D52D-635F-6E43-9B3B-EE71037E7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9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CA15-E207-CE52-63EA-AF1A073E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D3370-B1DF-30E1-E12D-36803BB93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CB652-CD7A-0415-FF03-02DB411A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EB69-2DAF-DA40-BBCF-EB672E94D28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E495C-1406-4688-B2A2-28621A961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1458F-D840-3AB9-14D3-6A2C0F5C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D52D-635F-6E43-9B3B-EE71037E7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6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E9719-02ED-021C-FD6A-C07B00101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F9E1-6C92-8E71-FC6F-56E1FBA1D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372BC-9100-02B9-E449-61134C67D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0BA18-0947-7966-2D7A-99E3A2FC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EB69-2DAF-DA40-BBCF-EB672E94D28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C8D48-1C5F-DB1A-7088-1B72C77D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6BBF-7FEE-B3E6-42FD-050B8F4A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D52D-635F-6E43-9B3B-EE71037E7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39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DF2B-9549-E66B-A3AC-378855CA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3A1D6-F4AC-FAC6-3527-84E25CA25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D97F8-5B68-543C-754B-FD88E21B3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5B6C99-795D-8B2E-7C63-9D89C5C74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7EC9CF-0C86-8702-9E12-A47E1EAF4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C2B274-2483-61D9-3DD5-F77495E90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EB69-2DAF-DA40-BBCF-EB672E94D28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714C0-8EAB-C32F-ECD9-D434CD94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3E74C1-A6AD-9079-516E-51E1E31B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D52D-635F-6E43-9B3B-EE71037E7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2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A7C0-EB99-5650-2580-2A4677DE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1C77D-94C1-C503-B690-784A23A44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EB69-2DAF-DA40-BBCF-EB672E94D28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821C0-2947-CBE0-933E-D6E3858E1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76E7C-7751-E41B-C768-2F13E31F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D52D-635F-6E43-9B3B-EE71037E7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9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FA4873-D83C-5233-4D64-55FEA7D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EB69-2DAF-DA40-BBCF-EB672E94D28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AB5259-4F3A-B045-875A-E569B515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D3900-4A03-A7D1-59EF-C34E2107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D52D-635F-6E43-9B3B-EE71037E7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13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DEA43-668C-CB80-A6D3-55814E61C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FDAFC-B816-E909-0033-5093E18B2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2C349-629F-9A35-92B5-CB0F20E0A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72B8C-834E-1613-F13C-A64FB6BE9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EB69-2DAF-DA40-BBCF-EB672E94D28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3C182-9D91-1A0F-4E64-94E86E2C4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1AA52-2E95-AF5A-B5F1-6554BF2D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D52D-635F-6E43-9B3B-EE71037E7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7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DB20-C5A5-C8C9-F186-5A89717D0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85A32-9985-3889-515E-21DE8BF4E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D85F4-DFA7-E10B-3B6B-387EC09FA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C891F-A98F-A5EC-2E3E-0DFA6B7B1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EB69-2DAF-DA40-BBCF-EB672E94D28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36A5A-D68F-242E-B3CE-B9999A4A9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08AE5-FAFC-D2B1-E220-705E228A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D52D-635F-6E43-9B3B-EE71037E7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47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A9F7-CC95-B438-2EB3-B58A73B5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5844A-4F3A-188E-6EEE-A19E5DBA3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906F3-B638-2D0E-5CF6-C4D6E5A28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EB69-2DAF-DA40-BBCF-EB672E94D28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ACB82-08D6-60E9-4347-2CABAF8F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11CED-EB30-9591-F8C6-96C9E381A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D52D-635F-6E43-9B3B-EE71037E7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02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B3779F-C587-03C8-C561-75201E6CDC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7D513D-0E22-BCDB-255F-4D014048E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E0D3B-E15A-E60A-1631-D310D0AC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EB69-2DAF-DA40-BBCF-EB672E94D28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1D2D9-B642-2039-69CC-B962AEBDE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160D4-B8F0-6587-D5D7-D1BDA46E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D52D-635F-6E43-9B3B-EE71037E7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6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A9C7E-4839-DEAF-2869-6D54680B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1EE0A-7537-F2B2-255C-A91CB913A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5D951-F83F-1081-791F-4C2013C51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2EB69-2DAF-DA40-BBCF-EB672E94D28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C5D58-EA07-60C1-89B9-9536D2904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2DB0A-19F5-56FD-BB1E-BE28EAAE8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0D52D-635F-6E43-9B3B-EE71037E7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6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B13B5-9ED2-1E67-8FE6-9B7688473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18107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dirty="0"/>
              <a:t>Airplane In-flight entertainment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B233D-73B9-A589-4B2B-2CEACC7DA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5944"/>
            <a:ext cx="9144000" cy="129185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Cybersecurity internship </a:t>
            </a:r>
          </a:p>
          <a:p>
            <a:r>
              <a:rPr lang="en-US" dirty="0"/>
              <a:t>Week 8</a:t>
            </a:r>
          </a:p>
          <a:p>
            <a:r>
              <a:rPr lang="en-US" dirty="0"/>
              <a:t>Intern: Assil </a:t>
            </a:r>
            <a:r>
              <a:rPr lang="en-US" dirty="0" err="1"/>
              <a:t>Bzal</a:t>
            </a:r>
            <a:endParaRPr lang="en-US" dirty="0"/>
          </a:p>
        </p:txBody>
      </p:sp>
      <p:pic>
        <p:nvPicPr>
          <p:cNvPr id="5" name="Picture 4" descr="A logo for a security company&#10;&#10;AI-generated content may be incorrect.">
            <a:extLst>
              <a:ext uri="{FF2B5EF4-FFF2-40B4-BE49-F238E27FC236}">
                <a16:creationId xmlns:a16="http://schemas.microsoft.com/office/drawing/2014/main" id="{CFD9BCDB-06DB-6017-B3AD-68A33A07D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860" y="203828"/>
            <a:ext cx="2014279" cy="201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21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21FC-4366-79E4-A983-4705D97A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C1B00-E2FD-07A7-22F4-52A2565B0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assets</a:t>
            </a:r>
          </a:p>
          <a:p>
            <a:r>
              <a:rPr lang="en-US" dirty="0"/>
              <a:t>Top threats</a:t>
            </a:r>
          </a:p>
          <a:p>
            <a:r>
              <a:rPr lang="en-US" dirty="0"/>
              <a:t>Quick mitigations</a:t>
            </a:r>
          </a:p>
          <a:p>
            <a:r>
              <a:rPr lang="en-US" dirty="0"/>
              <a:t>Likely attackers</a:t>
            </a:r>
          </a:p>
          <a:p>
            <a:r>
              <a:rPr lang="en-US" dirty="0"/>
              <a:t>Entry points</a:t>
            </a:r>
          </a:p>
          <a:p>
            <a:r>
              <a:rPr lang="en-US" dirty="0"/>
              <a:t>Trust boundaries</a:t>
            </a:r>
          </a:p>
          <a:p>
            <a:r>
              <a:rPr lang="en-US" dirty="0"/>
              <a:t>Diagrams : DFD – Sequence diagrams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73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1860BFB7-0B54-A7E2-19F0-315D32CF04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46615"/>
              </p:ext>
            </p:extLst>
          </p:nvPr>
        </p:nvGraphicFramePr>
        <p:xfrm>
          <a:off x="294111" y="199843"/>
          <a:ext cx="11603778" cy="6458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926">
                  <a:extLst>
                    <a:ext uri="{9D8B030D-6E8A-4147-A177-3AD203B41FA5}">
                      <a16:colId xmlns:a16="http://schemas.microsoft.com/office/drawing/2014/main" val="4187823494"/>
                    </a:ext>
                  </a:extLst>
                </a:gridCol>
                <a:gridCol w="3867926">
                  <a:extLst>
                    <a:ext uri="{9D8B030D-6E8A-4147-A177-3AD203B41FA5}">
                      <a16:colId xmlns:a16="http://schemas.microsoft.com/office/drawing/2014/main" val="610585599"/>
                    </a:ext>
                  </a:extLst>
                </a:gridCol>
                <a:gridCol w="3867926">
                  <a:extLst>
                    <a:ext uri="{9D8B030D-6E8A-4147-A177-3AD203B41FA5}">
                      <a16:colId xmlns:a16="http://schemas.microsoft.com/office/drawing/2014/main" val="2713639376"/>
                    </a:ext>
                  </a:extLst>
                </a:gridCol>
              </a:tblGrid>
              <a:tr h="330269">
                <a:tc>
                  <a:txBody>
                    <a:bodyPr/>
                    <a:lstStyle/>
                    <a:p>
                      <a:r>
                        <a:rPr lang="en-US" sz="1600" dirty="0"/>
                        <a:t>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Security Sensitivity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66345"/>
                  </a:ext>
                </a:extLst>
              </a:tr>
              <a:tr h="577971">
                <a:tc>
                  <a:txBody>
                    <a:bodyPr/>
                    <a:lstStyle/>
                    <a:p>
                      <a:r>
                        <a:rPr lang="en-US" sz="1600" dirty="0"/>
                        <a:t>Passenger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Human user of the IFE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be both legitimate user or attacker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538"/>
                  </a:ext>
                </a:extLst>
              </a:tr>
              <a:tr h="577971">
                <a:tc>
                  <a:txBody>
                    <a:bodyPr/>
                    <a:lstStyle/>
                    <a:p>
                      <a:r>
                        <a:rPr lang="en-US" sz="1600" dirty="0"/>
                        <a:t>Seat-Back IFE GUI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Passenger-facing entertainment interface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Accepts input and processes media requests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043456"/>
                  </a:ext>
                </a:extLst>
              </a:tr>
              <a:tr h="577971">
                <a:tc>
                  <a:txBody>
                    <a:bodyPr/>
                    <a:lstStyle/>
                    <a:p>
                      <a:r>
                        <a:rPr lang="en-US" sz="1600" dirty="0"/>
                        <a:t>IFE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 processing node for media and payments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Handles requests and connects to multiple systems (DBs, avionics)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25745"/>
                  </a:ext>
                </a:extLst>
              </a:tr>
              <a:tr h="577971">
                <a:tc>
                  <a:txBody>
                    <a:bodyPr/>
                    <a:lstStyle/>
                    <a:p>
                      <a:r>
                        <a:rPr lang="en-US" sz="1600" dirty="0"/>
                        <a:t>Media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Stores movies, music, other entertainment content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Classified SECRET – may hold DRM or licensed data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720883"/>
                  </a:ext>
                </a:extLst>
              </a:tr>
              <a:tr h="577971">
                <a:tc>
                  <a:txBody>
                    <a:bodyPr/>
                    <a:lstStyle/>
                    <a:p>
                      <a:r>
                        <a:rPr lang="en-US" sz="1600" dirty="0"/>
                        <a:t>Payment/ PII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Stores passenger payment data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SECRET – contains sensitive personal and financial info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755613"/>
                  </a:ext>
                </a:extLst>
              </a:tr>
              <a:tr h="577971">
                <a:tc>
                  <a:txBody>
                    <a:bodyPr/>
                    <a:lstStyle/>
                    <a:p>
                      <a:r>
                        <a:rPr lang="en-US" sz="1600" dirty="0"/>
                        <a:t>Avionics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Bridge between IFE and aircraft avionics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Safety-critical; potential lateral movement risk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844525"/>
                  </a:ext>
                </a:extLst>
              </a:tr>
              <a:tr h="577971">
                <a:tc>
                  <a:txBody>
                    <a:bodyPr/>
                    <a:lstStyle/>
                    <a:p>
                      <a:r>
                        <a:rPr lang="en-US" sz="1600" dirty="0"/>
                        <a:t>Inflight network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Routes traffic between onboard systems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Shared medium — potential choke point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389069"/>
                  </a:ext>
                </a:extLst>
              </a:tr>
              <a:tr h="577971">
                <a:tc>
                  <a:txBody>
                    <a:bodyPr/>
                    <a:lstStyle/>
                    <a:p>
                      <a:r>
                        <a:rPr lang="en-US" sz="1600" dirty="0"/>
                        <a:t>USB/HDMI/Bluetooth/Ports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Physical access points for passengers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Attack vector for malware or rogue devices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381130"/>
                  </a:ext>
                </a:extLst>
              </a:tr>
              <a:tr h="577971">
                <a:tc>
                  <a:txBody>
                    <a:bodyPr/>
                    <a:lstStyle/>
                    <a:p>
                      <a:r>
                        <a:rPr lang="en-US" sz="1600" dirty="0"/>
                        <a:t>Cabin Wi-Fi/Passenger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Wireless access network for passengers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Entry vector for network attacks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301268"/>
                  </a:ext>
                </a:extLst>
              </a:tr>
              <a:tr h="330269">
                <a:tc>
                  <a:txBody>
                    <a:bodyPr/>
                    <a:lstStyle/>
                    <a:p>
                      <a:r>
                        <a:rPr lang="en-US" sz="1600" dirty="0"/>
                        <a:t>Maintenance/ Service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 for diagnostics and updates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protection from misuse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3103"/>
                  </a:ext>
                </a:extLst>
              </a:tr>
              <a:tr h="577971">
                <a:tc>
                  <a:txBody>
                    <a:bodyPr/>
                    <a:lstStyle/>
                    <a:p>
                      <a:r>
                        <a:rPr lang="en-US" sz="1600" dirty="0"/>
                        <a:t>Content delivery/ ground sync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Updates media and system content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 of supply chain; potential vector for malicious updates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12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5B62AC-66CB-FD69-8295-568956776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356941"/>
              </p:ext>
            </p:extLst>
          </p:nvPr>
        </p:nvGraphicFramePr>
        <p:xfrm>
          <a:off x="221305" y="260202"/>
          <a:ext cx="11749390" cy="6337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878">
                  <a:extLst>
                    <a:ext uri="{9D8B030D-6E8A-4147-A177-3AD203B41FA5}">
                      <a16:colId xmlns:a16="http://schemas.microsoft.com/office/drawing/2014/main" val="4201050491"/>
                    </a:ext>
                  </a:extLst>
                </a:gridCol>
                <a:gridCol w="2349878">
                  <a:extLst>
                    <a:ext uri="{9D8B030D-6E8A-4147-A177-3AD203B41FA5}">
                      <a16:colId xmlns:a16="http://schemas.microsoft.com/office/drawing/2014/main" val="1654420943"/>
                    </a:ext>
                  </a:extLst>
                </a:gridCol>
                <a:gridCol w="2349878">
                  <a:extLst>
                    <a:ext uri="{9D8B030D-6E8A-4147-A177-3AD203B41FA5}">
                      <a16:colId xmlns:a16="http://schemas.microsoft.com/office/drawing/2014/main" val="3355965472"/>
                    </a:ext>
                  </a:extLst>
                </a:gridCol>
                <a:gridCol w="2349878">
                  <a:extLst>
                    <a:ext uri="{9D8B030D-6E8A-4147-A177-3AD203B41FA5}">
                      <a16:colId xmlns:a16="http://schemas.microsoft.com/office/drawing/2014/main" val="3618635521"/>
                    </a:ext>
                  </a:extLst>
                </a:gridCol>
                <a:gridCol w="2349878">
                  <a:extLst>
                    <a:ext uri="{9D8B030D-6E8A-4147-A177-3AD203B41FA5}">
                      <a16:colId xmlns:a16="http://schemas.microsoft.com/office/drawing/2014/main" val="3348289339"/>
                    </a:ext>
                  </a:extLst>
                </a:gridCol>
              </a:tblGrid>
              <a:tr h="454956">
                <a:tc>
                  <a:txBody>
                    <a:bodyPr/>
                    <a:lstStyle/>
                    <a:p>
                      <a:r>
                        <a:rPr lang="en-US" sz="1600" dirty="0"/>
                        <a:t>Threat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Related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Mitigation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376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Lateral movement to critical avionics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🔴 High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IFE Server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Misconfigured network bridge could allow attackers from passenger IFE to reach avionics systems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Enforce strict network segmentation; physical separation; unidirectional gateway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187454"/>
                  </a:ext>
                </a:extLst>
              </a:tr>
              <a:tr h="743196">
                <a:tc>
                  <a:txBody>
                    <a:bodyPr/>
                    <a:lstStyle/>
                    <a:p>
                      <a:r>
                        <a:rPr lang="en-US" sz="2800" dirty="0"/>
                        <a:t>Theft of payment/PII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🔴 High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Payment/PII DB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Compromised IFE or server could expose financial or personal data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Encrypt at rest and in transit; implement PCI-DSS compliance; segregate payment systems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450818"/>
                  </a:ext>
                </a:extLst>
              </a:tr>
              <a:tr h="743196">
                <a:tc>
                  <a:txBody>
                    <a:bodyPr/>
                    <a:lstStyle/>
                    <a:p>
                      <a:r>
                        <a:rPr lang="en-US" sz="2000" dirty="0"/>
                        <a:t>Malware via USB/OTG or infected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🟠 Medium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USB/Bluetooth Ports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Passengers could plug infected media or exploit OTG interfaces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Disable unused ports, use endpoint protection, restrict file execution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217328"/>
                  </a:ext>
                </a:extLst>
              </a:tr>
              <a:tr h="914702">
                <a:tc>
                  <a:txBody>
                    <a:bodyPr/>
                    <a:lstStyle/>
                    <a:p>
                      <a:r>
                        <a:rPr lang="en-US" sz="2400" dirty="0"/>
                        <a:t>Denial of service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🟠 Medium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Inflight Network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flood or process overload could disrupt entertainment or communications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Rate-limiting, IDS/IPS, redundancy, monitoring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242930"/>
                  </a:ext>
                </a:extLst>
              </a:tr>
              <a:tr h="743196">
                <a:tc>
                  <a:txBody>
                    <a:bodyPr/>
                    <a:lstStyle/>
                    <a:p>
                      <a:r>
                        <a:rPr lang="en-US" sz="2400" dirty="0"/>
                        <a:t>Unauthorized content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🟡 Low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 Sync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Tampered updates could inject malicious or pirated content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 signing, integrity validation of content packages, supply-chain vetting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751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89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19CED7-A510-EA64-ACBB-117BA0876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0083535"/>
              </p:ext>
            </p:extLst>
          </p:nvPr>
        </p:nvGraphicFramePr>
        <p:xfrm>
          <a:off x="838200" y="1027957"/>
          <a:ext cx="10515600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815321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75016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Recommended controls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412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Physically isolate IFE from avionics; enforce strict VLAN/firewall policies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817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Access control &amp;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 signed firmware, authenticated maintenance access, least privilege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47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protection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Encrypt PII &amp; payment data at rest (AES-256) and in transit (TLS 1.3)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56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 validation &amp; hardening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Sanitize input on IFE server; disable unneeded ports; harden OSes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022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Monitoring &amp; logging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 SIEM or onboard monitoring for anomalies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88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Incident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onboard alerting for network anomalies or content tampering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54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Supply chain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Validate ground content updates; signed packages and hashes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775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Physical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Tamper-evident seals, port disablement, and hardware lockdowns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229275"/>
                  </a:ext>
                </a:extLst>
              </a:tr>
            </a:tbl>
          </a:graphicData>
        </a:graphic>
      </p:graphicFrame>
      <p:sp>
        <p:nvSpPr>
          <p:cNvPr id="8" name="Title 3">
            <a:extLst>
              <a:ext uri="{FF2B5EF4-FFF2-40B4-BE49-F238E27FC236}">
                <a16:creationId xmlns:a16="http://schemas.microsoft.com/office/drawing/2014/main" id="{A97100EB-516E-82EC-CDE5-F38193696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0909"/>
          </a:xfrm>
        </p:spPr>
        <p:txBody>
          <a:bodyPr>
            <a:normAutofit fontScale="90000"/>
          </a:bodyPr>
          <a:lstStyle/>
          <a:p>
            <a:r>
              <a:rPr lang="en-US" dirty="0"/>
              <a:t>Quick mitigations</a:t>
            </a:r>
          </a:p>
        </p:txBody>
      </p:sp>
    </p:spTree>
    <p:extLst>
      <p:ext uri="{BB962C8B-B14F-4D97-AF65-F5344CB8AC3E}">
        <p14:creationId xmlns:p14="http://schemas.microsoft.com/office/powerpoint/2010/main" val="2521168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A169C1-4F8F-8548-3482-F36B3A954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040"/>
            <a:ext cx="10515600" cy="810532"/>
          </a:xfrm>
        </p:spPr>
        <p:txBody>
          <a:bodyPr/>
          <a:lstStyle/>
          <a:p>
            <a:r>
              <a:rPr lang="en-US" dirty="0"/>
              <a:t>Likely attackers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F4124CC-E3C1-3016-DFCF-E46718E0A6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665716"/>
              </p:ext>
            </p:extLst>
          </p:nvPr>
        </p:nvGraphicFramePr>
        <p:xfrm>
          <a:off x="838200" y="1912620"/>
          <a:ext cx="10515597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33449977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6424317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45495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Motivation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Capability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81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Malicious passenger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Entertainment system bypass, free media, curiosity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Physical &amp; logical access (seat-back, USB, Wi-Fi)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150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Cybercriminal / data thief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Steal payment or PII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Exploits IFE vulnerabilities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310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Insider or compromised maintenance operator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Tamper with content or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Physical or privileged access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25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Nation-state / APT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Interfere with avionics or disrupt flight operations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Advanced capabilities targeting avionics bridge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23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Malware via USB/ portable 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Spread infection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Exploits lack of port security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427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674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1266-8D9E-0B51-7001-FCF221AD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Entry points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B0D81D5-EAE7-68E6-9EC9-C792670D6B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1887464"/>
              </p:ext>
            </p:extLst>
          </p:nvPr>
        </p:nvGraphicFramePr>
        <p:xfrm>
          <a:off x="838200" y="1825625"/>
          <a:ext cx="10515597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47524438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572728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05317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Entry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Potential risks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945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Seat-back GUI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Passenger input interface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Command injection, buffer overflow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60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USB/HDMI/Bluetooth Ports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 physical access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Malware injection, data exfiltration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753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Cabin Wi-Fi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Wireless access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sniffing, rogue client attacks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002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 Sync (Ground)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Updates from airline or vendor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Supply chain tampering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28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Maintenance Port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Onboard diagnostics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Unauthorized access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063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IFE Server → Avionics Interface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Misconfigured bridge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Cross-domain attack, lateral movement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06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2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4309-6BB6-4440-46C0-9D7C7FE1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757011"/>
            <a:ext cx="10515600" cy="1325563"/>
          </a:xfrm>
        </p:spPr>
        <p:txBody>
          <a:bodyPr/>
          <a:lstStyle/>
          <a:p>
            <a:r>
              <a:rPr lang="en-US" dirty="0"/>
              <a:t>Trust Boundaries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062847B-66DD-8D54-90BB-DE78843655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46313"/>
              </p:ext>
            </p:extLst>
          </p:nvPr>
        </p:nvGraphicFramePr>
        <p:xfrm>
          <a:off x="838203" y="2418080"/>
          <a:ext cx="10515597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9752900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9834373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5682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Contained Assets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463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Passenger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Untrusted / public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Passenger, IFE GUI, USB/Bluetooth, Cabin Wi-Fi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319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Airline-Controlled IFE Systems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Semi-trusted operational network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IFE Server, Media DB, Payment DB, Network Infra, Content Sync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428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Aircraft Avionics Systems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Highly trusted / safety-critical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Avionics Interface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6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187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E432-7A4F-1D80-E2A3-4A307FA2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 + trust boundaries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8A5A84-D151-F44D-1F55-2DDC328AE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0748" y="2265218"/>
            <a:ext cx="10070504" cy="3708761"/>
          </a:xfrm>
        </p:spPr>
      </p:pic>
    </p:spTree>
    <p:extLst>
      <p:ext uri="{BB962C8B-B14F-4D97-AF65-F5344CB8AC3E}">
        <p14:creationId xmlns:p14="http://schemas.microsoft.com/office/powerpoint/2010/main" val="364481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31C2-2BD3-D80D-44CB-922E6AA6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570A13-B26D-72E4-161B-BC54D402D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2820"/>
            <a:ext cx="10515600" cy="3736948"/>
          </a:xfrm>
        </p:spPr>
      </p:pic>
    </p:spTree>
    <p:extLst>
      <p:ext uri="{BB962C8B-B14F-4D97-AF65-F5344CB8AC3E}">
        <p14:creationId xmlns:p14="http://schemas.microsoft.com/office/powerpoint/2010/main" val="952186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FEB8E-AF9F-9244-F3C8-DA663CB2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report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56CC4E-5300-3381-DA6F-FACE53042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886545" cy="4796547"/>
          </a:xfrm>
        </p:spPr>
      </p:pic>
    </p:spTree>
    <p:extLst>
      <p:ext uri="{BB962C8B-B14F-4D97-AF65-F5344CB8AC3E}">
        <p14:creationId xmlns:p14="http://schemas.microsoft.com/office/powerpoint/2010/main" val="4099093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695</Words>
  <Application>Microsoft Macintosh PowerPoint</Application>
  <PresentationFormat>Widescreen</PresentationFormat>
  <Paragraphs>155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Airplane In-flight entertainment system </vt:lpstr>
      <vt:lpstr>Outline</vt:lpstr>
      <vt:lpstr>PowerPoint Presentation</vt:lpstr>
      <vt:lpstr>PowerPoint Presentation</vt:lpstr>
      <vt:lpstr>Quick mitigations</vt:lpstr>
      <vt:lpstr>Likely attackers</vt:lpstr>
      <vt:lpstr>Entry points</vt:lpstr>
      <vt:lpstr>Trust Boundaries</vt:lpstr>
      <vt:lpstr>Data flow diagram + trust boundaries</vt:lpstr>
      <vt:lpstr>Sequence diagram</vt:lpstr>
      <vt:lpstr>Threat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Macbook</dc:creator>
  <cp:lastModifiedBy>Macbook</cp:lastModifiedBy>
  <cp:revision>3</cp:revision>
  <dcterms:created xsi:type="dcterms:W3CDTF">2025-10-01T10:03:24Z</dcterms:created>
  <dcterms:modified xsi:type="dcterms:W3CDTF">2025-10-10T10:22:20Z</dcterms:modified>
</cp:coreProperties>
</file>