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72" r:id="rId6"/>
    <p:sldId id="261" r:id="rId7"/>
    <p:sldId id="266" r:id="rId8"/>
    <p:sldId id="262" r:id="rId9"/>
    <p:sldId id="263" r:id="rId10"/>
    <p:sldId id="264" r:id="rId11"/>
    <p:sldId id="265" r:id="rId12"/>
    <p:sldId id="260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3" r:id="rId22"/>
    <p:sldId id="277" r:id="rId23"/>
    <p:sldId id="279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4" r:id="rId37"/>
    <p:sldId id="293" r:id="rId38"/>
    <p:sldId id="292" r:id="rId39"/>
    <p:sldId id="295" r:id="rId40"/>
    <p:sldId id="296" r:id="rId41"/>
    <p:sldId id="298" r:id="rId42"/>
    <p:sldId id="297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34"/>
    <p:restoredTop sz="94658"/>
  </p:normalViewPr>
  <p:slideViewPr>
    <p:cSldViewPr snapToGrid="0">
      <p:cViewPr>
        <p:scale>
          <a:sx n="63" d="100"/>
          <a:sy n="63" d="100"/>
        </p:scale>
        <p:origin x="240" y="1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07293-8110-8F4B-BE7B-A9BB813BB5F3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20F14-E4D8-C741-806E-FAACE916B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8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20F14-E4D8-C741-806E-FAACE916B48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11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720F14-E4D8-C741-806E-FAACE916B48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6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F42BD-442F-BBC9-4F3D-9364F4FC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8D97D-61F7-962C-D77D-1C32D71CC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A5B5-15D4-02CC-D9CD-702DF6EE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DB08C-5ECC-C9DB-4422-D79ABB97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74840-5B31-1D43-A034-F9B24BF17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7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F8EE-8EE2-39ED-FEB6-4BDC3DA2B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E9AFE-37A6-B0C7-D2C7-1C73EB4C6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72291-B131-DAA9-1F50-E8AE3D94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CF658-1BE7-5E45-6AF6-FEDC2A906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583B6-A7CA-B8C0-99AE-911442F0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03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F2B1-44A0-3282-19C8-F82B75803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F080A-D96B-9DC2-3572-CC8CBF439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D2F4B-1E81-3886-88ED-B29DBE127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0666E-7849-CD6C-4438-5C3E0B23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FEC27-9B9B-C119-8F11-6544D26B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C95B-0214-424B-2A7D-0DB7E2ED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099F-05BC-E44B-09E3-E47957A83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03DCA-34D9-89CA-4247-39DF0F7C7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7978F-3426-7F8E-77E3-6BD2A0B8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22DD9-9618-34E3-F84C-420FBCC3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8BDD8-39F0-4A37-5C76-0EACC6F6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1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6D527-520A-585C-4EB7-BB7358B4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B110B-C8B6-581A-0C84-82FEB34E7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957767-2EFB-86DC-034B-F29B2163D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FFBAD6-15AB-F24A-CB4C-9AF505659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B1EF73-FDBD-1B2A-CCBE-5B2F75696B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069F1-45BC-AE80-D03C-2232373B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CD751-1581-1239-C517-FABF45F9D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6C82AC-B4A8-A3AD-303A-B203A8EE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7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5031-83D3-36F7-253D-5BD82A5C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C00D2-1028-DF64-B8B4-6A2013BE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1109A-EFB2-BF7E-6FFC-71A2C43A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3A5EF-4B6C-D671-A104-6CE051D7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1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E4B166-5441-1990-737F-4F8A5675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73AF1-A87B-6756-756A-A4033C89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48E18-F5C8-4DEB-8D7C-B3D0CF6D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65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7DD13-3A4A-E062-A8E3-A0BBA0B39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9EF7C-DE06-8724-52E3-477CDEAF3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38036-A8E1-2D05-C213-35819D3D8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77B68-A5F0-0F48-12D6-9E514A92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A976C-FB86-6905-AEAD-43BDEE7B8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3B9AA-1864-C5F4-2FDD-8526682E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24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442C-FFDD-CF2B-43E1-0D0389181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061AE-4743-4705-94B5-890C867DD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6342A-7921-290B-632A-2D864697A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0B2DA-146B-4DFE-EEE4-FEC41184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E9D9A-53D5-EEDB-64DC-A6C21506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DE1BF-ECDF-F15F-881A-143CA574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6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B453-8E9A-44CA-2E22-9824C5E8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2BD4D-BBF4-F602-E477-8ECFD7EFC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A2DFB-DE1D-76E1-40D7-71EA0E71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158D5-6900-B621-BC64-D1A2EC67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6B2A7-1D46-674D-D844-1A796676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2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560CA-633F-666A-026B-28194065D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0F91F-F3D4-F9D3-D62D-82498EAA2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F75B9-3164-7660-8B94-7DE9BF5E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C5C39-EF3A-86D0-40BD-58C71E2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3120E-DF4A-5923-4AF8-C8695B4B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3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B4A5D9-2886-7330-B61B-EDA9D881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6697D-D5AB-E530-E42F-9319F84F7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B57E1-1E72-09FA-6952-0F9F4647D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C57E39-DB3C-8941-826F-AD7E169972AE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E5788-3320-D9C1-ABDF-FCB928D15D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30364-395A-5518-77BF-B04E9E4A2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A1F1D5-91B5-C643-8120-5B32DDB39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4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FB2D9-E312-B7B1-ABFF-06C95CA01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805" y="2173748"/>
            <a:ext cx="9360195" cy="2510503"/>
          </a:xfrm>
        </p:spPr>
        <p:txBody>
          <a:bodyPr>
            <a:normAutofit/>
          </a:bodyPr>
          <a:lstStyle/>
          <a:p>
            <a:r>
              <a:rPr lang="en-US" sz="4400" dirty="0"/>
              <a:t>Cyber Defense in Action: Threat Detection, Infrastructure Security, and OpenSSL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BBC8A-766E-FAAD-5DDF-780223DFE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07744"/>
            <a:ext cx="9144000" cy="1655762"/>
          </a:xfrm>
        </p:spPr>
        <p:txBody>
          <a:bodyPr/>
          <a:lstStyle/>
          <a:p>
            <a:r>
              <a:rPr lang="en-US" dirty="0"/>
              <a:t>Week 4 presentation</a:t>
            </a:r>
          </a:p>
          <a:p>
            <a:r>
              <a:rPr lang="en-US" dirty="0"/>
              <a:t>Intern: Assil </a:t>
            </a:r>
            <a:r>
              <a:rPr lang="en-US" dirty="0" err="1"/>
              <a:t>Bzal</a:t>
            </a:r>
            <a:endParaRPr lang="en-US" dirty="0"/>
          </a:p>
        </p:txBody>
      </p:sp>
      <p:pic>
        <p:nvPicPr>
          <p:cNvPr id="5" name="Picture 4" descr="A logo for a security company&#10;&#10;AI-generated content may be incorrect.">
            <a:extLst>
              <a:ext uri="{FF2B5EF4-FFF2-40B4-BE49-F238E27FC236}">
                <a16:creationId xmlns:a16="http://schemas.microsoft.com/office/drawing/2014/main" id="{4172B924-098A-33A2-7D37-9EDB26B8D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192" y="253126"/>
            <a:ext cx="2675616" cy="2675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68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A97B-D244-CE2D-1F21-243D89CE2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352A8-0E1C-D4D3-AE85-4CE497EB3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3359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Introduction </a:t>
            </a:r>
          </a:p>
          <a:p>
            <a:r>
              <a:rPr lang="en-US" dirty="0"/>
              <a:t>Core networking concepts</a:t>
            </a:r>
          </a:p>
          <a:p>
            <a:r>
              <a:rPr lang="en-US" dirty="0"/>
              <a:t>Common network attacks</a:t>
            </a:r>
          </a:p>
          <a:p>
            <a:r>
              <a:rPr lang="en-US" dirty="0"/>
              <a:t>Defensive tools and infrastructure Security</a:t>
            </a:r>
          </a:p>
          <a:p>
            <a:r>
              <a:rPr lang="en-US" dirty="0"/>
              <a:t>Enterprise threats</a:t>
            </a:r>
          </a:p>
          <a:p>
            <a:r>
              <a:rPr lang="en-US" dirty="0"/>
              <a:t>Human Factor threats</a:t>
            </a:r>
          </a:p>
          <a:p>
            <a:r>
              <a:rPr lang="en-US" dirty="0"/>
              <a:t>Organizational Security Practices</a:t>
            </a:r>
          </a:p>
          <a:p>
            <a:r>
              <a:rPr lang="en-US" dirty="0"/>
              <a:t>Industry Regulations &amp; Certifications</a:t>
            </a:r>
          </a:p>
          <a:p>
            <a:r>
              <a:rPr lang="en-US" dirty="0"/>
              <a:t>Cloud &amp; Enterprise Security</a:t>
            </a:r>
          </a:p>
          <a:p>
            <a:r>
              <a:rPr lang="en-US" dirty="0"/>
              <a:t>Anonymity, Attribution &amp; Advanced Threats</a:t>
            </a:r>
          </a:p>
          <a:p>
            <a:r>
              <a:rPr lang="en-US" dirty="0"/>
              <a:t>Critical Infrastructure &amp; National Security</a:t>
            </a:r>
          </a:p>
          <a:p>
            <a:r>
              <a:rPr lang="en-US" dirty="0"/>
              <a:t>Mobile Security</a:t>
            </a:r>
          </a:p>
          <a:p>
            <a:r>
              <a:rPr lang="en-US" dirty="0"/>
              <a:t>IoT Security</a:t>
            </a:r>
          </a:p>
          <a:p>
            <a:r>
              <a:rPr lang="en-US" dirty="0"/>
              <a:t>Advanced Defensive Techniques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763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ABFE7-752A-AD2D-A559-C1BBA978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cybersecurity (intro)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2D668-603E-7291-4CD3-4843FA5D8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Imagine your house has a security camera. If someone tries to break in, you don’t want to know tomorrow,  you want to know </a:t>
            </a:r>
            <a:r>
              <a:rPr lang="en-US" sz="3600" b="1" i="1" dirty="0"/>
              <a:t>right now</a:t>
            </a:r>
            <a:r>
              <a:rPr lang="en-US" sz="3600" dirty="0"/>
              <a:t>. That’s what real-time cybersecurity is: spotting and stopping digital thieves as they attack.</a:t>
            </a:r>
          </a:p>
        </p:txBody>
      </p:sp>
    </p:spTree>
    <p:extLst>
      <p:ext uri="{BB962C8B-B14F-4D97-AF65-F5344CB8AC3E}">
        <p14:creationId xmlns:p14="http://schemas.microsoft.com/office/powerpoint/2010/main" val="5115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D242-85A9-54B0-53FE-F236C3CF5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TCP/IP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BC9DC-81E3-8290-64EB-E6B6A279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Evolution: Long ago, the internet was like a small neighborhood with only a few houses. Communication was simple. But as the neighborhood grew into a global city, we needed new ways to deliver letters safely, that’s how TCP/IP evolved.</a:t>
            </a:r>
          </a:p>
          <a:p>
            <a:r>
              <a:rPr lang="en-US" dirty="0"/>
              <a:t>Overview: TCP/IP is the mailman of the internet. TCP makes sure the letter is complete, and IP makes sure it goes to the right address.</a:t>
            </a:r>
          </a:p>
          <a:p>
            <a:r>
              <a:rPr lang="en-US" dirty="0"/>
              <a:t>3-way-handshake: Think of two people greeting each other with a handshake: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Person A: ‘Hello, are you there?’ (SYN)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Person B: ‘Yes, I’m here. Hello back.’ (SYN-ACK)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Person A: ‘Great, let’s talk.’ (ACK)</a:t>
            </a:r>
            <a:br>
              <a:rPr lang="en-US" dirty="0"/>
            </a:br>
            <a:r>
              <a:rPr lang="en-US" dirty="0"/>
              <a:t>That’s how computers start talking!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9421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59BD-9105-3FD1-D14E-A4616A404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FTP (file transfer protocol)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EA726-C802-CEFF-653E-8CEA4F95C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standard way for computers to send and receive files.</a:t>
            </a:r>
          </a:p>
          <a:p>
            <a:r>
              <a:rPr lang="en-US" dirty="0"/>
              <a:t>Uses a client (you) and a server (the destination).</a:t>
            </a:r>
          </a:p>
          <a:p>
            <a:r>
              <a:rPr lang="en-US" dirty="0"/>
              <a:t>Runs mainly on two ports:</a:t>
            </a:r>
          </a:p>
          <a:p>
            <a:r>
              <a:rPr lang="en-US" dirty="0"/>
              <a:t>Port 21 → the control channel (instructions: login, start, stop).</a:t>
            </a:r>
          </a:p>
          <a:p>
            <a:r>
              <a:rPr lang="en-US" dirty="0"/>
              <a:t>Port 20 (or dynamic) → the data channel (actual files moving).</a:t>
            </a:r>
          </a:p>
          <a:p>
            <a:r>
              <a:rPr lang="en-US" dirty="0"/>
              <a:t>Design Principles for FTP Firewall Rules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Allow only trusted IPs to use FTP.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Restrict ports → open just the ones needed (not the whole range).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secure versions (SFTP/FTPS) instead of plain FTP.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Log activity → track who uploads/downloads what.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78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623B-7091-E13A-4FDC-52CB0A3B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sequence number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F461C-30AB-391F-8B0A-B52F938C1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two computers talk using TCP, they use sequence numbers to keep track of data.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Computer A sends data with sequence number 100.</a:t>
            </a:r>
          </a:p>
          <a:p>
            <a:pPr lvl="1"/>
            <a:r>
              <a:rPr lang="en-US" dirty="0"/>
              <a:t>Computer B replies, “Got it, now send me 101.”</a:t>
            </a:r>
          </a:p>
          <a:p>
            <a:r>
              <a:rPr lang="en-US" dirty="0"/>
              <a:t>This keeps the conversation in order, just like page numbers.</a:t>
            </a:r>
          </a:p>
          <a:p>
            <a:r>
              <a:rPr lang="en-US" dirty="0"/>
              <a:t> The Attack: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a hacker can predict the next sequence number, they can send fake data packets that look like they came from the trusted computer.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victim accepts these packets because the sequence number </a:t>
            </a:r>
            <a:r>
              <a:rPr lang="en-US" i="1" dirty="0"/>
              <a:t>fits into the conversation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392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BD29-F0D1-497E-2B19-792D827E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dangerous and how to solve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7E09A-BD09-4BE6-342F-F5E1FED4F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u="sng" dirty="0"/>
              <a:t>Why is this Dangerous?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attacker can inject fake commands (e.g., telling a server to transfer money or open access).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a form of session hijacking — the attacker takes over the conversation.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Since the attacker fakes the source IP (like writing your friend’s name on the note), the victim doesn’t even know it’s not really their friend.</a:t>
            </a:r>
          </a:p>
          <a:p>
            <a:r>
              <a:rPr lang="en-US" b="1" dirty="0"/>
              <a:t>🔐 </a:t>
            </a:r>
            <a:r>
              <a:rPr lang="en-US" b="1" u="sng" dirty="0"/>
              <a:t>How Do We Defend Against It?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 randomized sequence numbers so attackers can’t guess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Encrypt communications (TLS/SSL) so even if they guess, they can’t craft the right content.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Monitor for suspicious traffic (intrusion detection systems).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678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9FCC-ED91-C39A-DA9E-F902F2DB2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Flooding (SYN Flood)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365DC-62CB-DED8-4D4A-7E94C0387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626"/>
            <a:ext cx="5840896" cy="49622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TCP connections start with a 3-step handshake: SYN → SYN-ACK → ACK.</a:t>
            </a:r>
          </a:p>
          <a:p>
            <a:r>
              <a:rPr lang="en-US" dirty="0"/>
              <a:t>In a SYN flood, the attacker sends thousands of SYN requests but never replies with the final ACK.</a:t>
            </a:r>
          </a:p>
          <a:p>
            <a:r>
              <a:rPr lang="en-US" dirty="0"/>
              <a:t>The server wastes memory and resources keeping these “half-open” connections alive.</a:t>
            </a:r>
          </a:p>
          <a:p>
            <a:r>
              <a:rPr lang="en-US" dirty="0"/>
              <a:t>Eventually, the server is so overloaded it can’t handle real requests.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What is a TCP SYN Flood | Mitigation Techniques | Imperva">
            <a:extLst>
              <a:ext uri="{FF2B5EF4-FFF2-40B4-BE49-F238E27FC236}">
                <a16:creationId xmlns:a16="http://schemas.microsoft.com/office/drawing/2014/main" id="{99F512FF-D7D0-5FD4-1CD4-874B13BB7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097" y="1364836"/>
            <a:ext cx="4989442" cy="445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86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706B2-190B-7918-1ED0-088470FFE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dangerous and how to solve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F6E3D-CC00-2F94-4F64-AF5225F3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u="sng" dirty="0"/>
              <a:t>Why is this Dangerous?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Legitimate users (the real bakery customers) can’t connect — the service is effectively down.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It’s a type of Denial of Service (DoS) attack.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done by many attackers at once, it becomes a Distributed Denial of Service (DDoS) attack.</a:t>
            </a:r>
          </a:p>
          <a:p>
            <a:r>
              <a:rPr lang="en-US" u="sng" dirty="0"/>
              <a:t>How Do We Defend Against It?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SYN cookies → A trick where the server doesn’t reserve resources until the handshake is complete.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Firewalls &amp; IDS/IPS → Detect and block suspicious flood traffic.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Rate limiting → Restrict how many new connections a single user can start.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Cloud DDoS protection → Offload bad traffic before it reaches the server.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372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9EBD2-CA5F-0D47-F2A7-AA92E7CD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E86EF-82B5-C45C-ADEA-A618DC124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 a network, information is sent in little chunks called packets.</a:t>
            </a:r>
          </a:p>
          <a:p>
            <a:r>
              <a:rPr lang="en-US" dirty="0"/>
              <a:t>These packets might contain:</a:t>
            </a:r>
          </a:p>
          <a:p>
            <a:pPr lvl="1"/>
            <a:r>
              <a:rPr lang="en-US" dirty="0"/>
              <a:t>usernames &amp; passwords</a:t>
            </a:r>
          </a:p>
          <a:p>
            <a:pPr lvl="1"/>
            <a:r>
              <a:rPr lang="en-US" dirty="0"/>
              <a:t>emails</a:t>
            </a:r>
          </a:p>
          <a:p>
            <a:pPr lvl="1"/>
            <a:r>
              <a:rPr lang="en-US" dirty="0"/>
              <a:t>files</a:t>
            </a:r>
          </a:p>
          <a:p>
            <a:pPr lvl="1"/>
            <a:r>
              <a:rPr lang="en-US" dirty="0"/>
              <a:t>credit card numbers</a:t>
            </a:r>
          </a:p>
          <a:p>
            <a:r>
              <a:rPr lang="en-US" dirty="0"/>
              <a:t>A packet sniffer is a tool that captures these packets as they travel through the network.</a:t>
            </a:r>
          </a:p>
          <a:p>
            <a:r>
              <a:rPr lang="en-US" dirty="0"/>
              <a:t> If the data is not encrypted, the sniffer can read everything in plain text.</a:t>
            </a:r>
          </a:p>
        </p:txBody>
      </p:sp>
      <p:pic>
        <p:nvPicPr>
          <p:cNvPr id="4098" name="Picture 2" descr="What Is Packet Sniffing? Definition, Types &amp; Protection">
            <a:extLst>
              <a:ext uri="{FF2B5EF4-FFF2-40B4-BE49-F238E27FC236}">
                <a16:creationId xmlns:a16="http://schemas.microsoft.com/office/drawing/2014/main" id="{77CFE546-5CA7-3AEF-81A5-796E871EC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1530"/>
            <a:ext cx="6096000" cy="338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0686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6EE4-F993-95A8-D088-0CD42C44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dangerous and how to solve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3E51-44F6-731E-6DEB-14BEA9A42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u="sng" dirty="0"/>
              <a:t>Why is This Dangerous?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Hackers can steal login credentials (like spying on you typing your password).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Sensitive information (emails, private messages, business data) can be exposed.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Attackers might also map the network to plan bigger attacks.</a:t>
            </a:r>
          </a:p>
          <a:p>
            <a:r>
              <a:rPr lang="en-US" b="1" dirty="0"/>
              <a:t> </a:t>
            </a:r>
            <a:r>
              <a:rPr lang="en-US" b="1" u="sng" dirty="0"/>
              <a:t>How Do We Defend Against It?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Encryption → If the letters are locked in envelopes (SSL/TLS, HTTPS, VPN), sniffers can’t read the contents.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Switched networks → Modern switches send packets only to the intended device (harder to sniff than old hubs).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Detection → Some intrusion detection systems can alert if sniffing is happening.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Safe practices → Always use HTTPS websites, VPNs, and avoid public Wi-Fi for sensitive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499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DAEB-E26E-FD08-8AEA-88524CF1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spoofing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DC96B-C84E-0B92-C0CC-B0F217D46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3340" cy="4351338"/>
          </a:xfrm>
        </p:spPr>
        <p:txBody>
          <a:bodyPr/>
          <a:lstStyle/>
          <a:p>
            <a:r>
              <a:rPr lang="en-US" dirty="0"/>
              <a:t>Imagine someone sending you a letter pretending to be your bank. The return address looks real, but it’s fake. That’s IP spoofing: lying about where the message came from.</a:t>
            </a:r>
          </a:p>
        </p:txBody>
      </p:sp>
      <p:pic>
        <p:nvPicPr>
          <p:cNvPr id="1028" name="Picture 4" descr="Beginners guide to IP spoofing - Hackercool Magazine">
            <a:extLst>
              <a:ext uri="{FF2B5EF4-FFF2-40B4-BE49-F238E27FC236}">
                <a16:creationId xmlns:a16="http://schemas.microsoft.com/office/drawing/2014/main" id="{3F20E6F6-DF3D-F780-0F7E-3B0161CB5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568" y="2133255"/>
            <a:ext cx="4981436" cy="373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401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1938-72D3-0BD5-6659-1DAB6C44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dangerous and how to solve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EFFF-5645-16EF-28F0-0A8B7B810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u="sng" dirty="0"/>
              <a:t>Why is This Dangerous?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Man-in-the-Middle → An attacker pretends to be a trusted system and intercepts communication.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Bypassing Security → Some systems trust certain IPs. If the attacker spoofs that IP, they might gain access.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DDoS Amplification → Attackers send requests with a victim’s IP as the return address. Servers then flood the victim with replies.</a:t>
            </a:r>
          </a:p>
          <a:p>
            <a:r>
              <a:rPr lang="en-US" b="1" u="sng" dirty="0"/>
              <a:t>How Do We Defend Against It?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Ingress/Egress Filtering → Firewalls block packets with fake source addresses.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Authentication → Use digital certificates and encryption, not just IPs, to prove identity.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Monitoring → Intrusion detection systems can spot suspicious traffic patterns.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Avoid Blind Trust → Never rely only on IP addresses for identity.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425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D3ECE-D5A3-1CC1-97AC-CC458DF9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3FC02-102F-82BF-A9D6-427335EF7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1261" cy="4351338"/>
          </a:xfrm>
        </p:spPr>
        <p:txBody>
          <a:bodyPr/>
          <a:lstStyle/>
          <a:p>
            <a:r>
              <a:rPr lang="en-US" dirty="0"/>
              <a:t>A firewall sits between your private network (your house) and the outside world (the internet).</a:t>
            </a:r>
          </a:p>
          <a:p>
            <a:r>
              <a:rPr lang="en-US" dirty="0"/>
              <a:t>It examines every packet (like each guest at the door).</a:t>
            </a:r>
          </a:p>
          <a:p>
            <a:r>
              <a:rPr lang="en-US" dirty="0"/>
              <a:t>Based on rules, it decides: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Allow the traffic (let them in).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 the traffic (send them away).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What Does a Firewall Actually Do?">
            <a:extLst>
              <a:ext uri="{FF2B5EF4-FFF2-40B4-BE49-F238E27FC236}">
                <a16:creationId xmlns:a16="http://schemas.microsoft.com/office/drawing/2014/main" id="{937A6308-E41C-1C8E-0104-5B765BBF4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461" y="2507111"/>
            <a:ext cx="5393634" cy="267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2044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4B97-3893-9803-5E59-F4D100DB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34EDA-A68C-69BF-BE98-EF65D2634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is This Important?</a:t>
            </a:r>
          </a:p>
          <a:p>
            <a:r>
              <a:rPr lang="en-US" dirty="0"/>
              <a:t>Without a firewall, it’s like leaving your doors wide open, anyone can walk in.</a:t>
            </a:r>
          </a:p>
          <a:p>
            <a:r>
              <a:rPr lang="en-US" dirty="0"/>
              <a:t>A firewall protects you from:</a:t>
            </a:r>
          </a:p>
          <a:p>
            <a:pPr lvl="1"/>
            <a:r>
              <a:rPr lang="en-US" dirty="0"/>
              <a:t>Hackers trying to sneak in</a:t>
            </a:r>
          </a:p>
          <a:p>
            <a:pPr lvl="1"/>
            <a:r>
              <a:rPr lang="en-US" dirty="0"/>
              <a:t>Viruses from suspicious downloads</a:t>
            </a:r>
          </a:p>
          <a:p>
            <a:pPr lvl="1"/>
            <a:r>
              <a:rPr lang="en-US" dirty="0"/>
              <a:t>Unwanted network traffic (spam, probes, scans)</a:t>
            </a:r>
          </a:p>
        </p:txBody>
      </p:sp>
    </p:spTree>
    <p:extLst>
      <p:ext uri="{BB962C8B-B14F-4D97-AF65-F5344CB8AC3E}">
        <p14:creationId xmlns:p14="http://schemas.microsoft.com/office/powerpoint/2010/main" val="3236016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D9AB-9285-A5EB-0EC7-FA5E200EF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firewalls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8CB9D-B221-44FF-4F57-262A984AF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Filtering → Checks basic details (like checking an ID card at the door).</a:t>
            </a:r>
          </a:p>
          <a:p>
            <a:r>
              <a:rPr lang="en-US" dirty="0"/>
              <a:t>Stateful Firewall → Remembers conversations (like a bouncer who remembers you already came in).</a:t>
            </a:r>
          </a:p>
          <a:p>
            <a:r>
              <a:rPr lang="en-US" dirty="0"/>
              <a:t>Application Firewall → Examines behavior (like security asking </a:t>
            </a:r>
            <a:r>
              <a:rPr lang="en-US" i="1" dirty="0"/>
              <a:t>why</a:t>
            </a:r>
            <a:r>
              <a:rPr lang="en-US" dirty="0"/>
              <a:t> you’re entering the library).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537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D2A9F-8BCD-BEFD-FA88-1BEFDA42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Antivirus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741C8-4E1F-03F3-10C7-93E7676FC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08286"/>
          </a:xfrm>
        </p:spPr>
        <p:txBody>
          <a:bodyPr>
            <a:normAutofit/>
          </a:bodyPr>
          <a:lstStyle/>
          <a:p>
            <a:r>
              <a:rPr lang="en-US" dirty="0"/>
              <a:t>Antivirus = a security program that looks for malicious software (viruses, worms, trojans, ransomware).</a:t>
            </a:r>
          </a:p>
          <a:p>
            <a:r>
              <a:rPr lang="en-US" dirty="0"/>
              <a:t>It scans your files, programs, and even downloads.</a:t>
            </a:r>
          </a:p>
          <a:p>
            <a:r>
              <a:rPr lang="en-US" dirty="0"/>
              <a:t>If it finds something dangerous, it: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Warns you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Blocks or deletes the file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Sometimes quarantines it (locks it away so it can’t spread)</a:t>
            </a:r>
          </a:p>
          <a:p>
            <a:r>
              <a:rPr lang="en-US" dirty="0"/>
              <a:t> How It Detects Threats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Behavioral detection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Heuristic analysis (Looks for unusual or suspicious code structures.)</a:t>
            </a:r>
          </a:p>
        </p:txBody>
      </p:sp>
    </p:spTree>
    <p:extLst>
      <p:ext uri="{BB962C8B-B14F-4D97-AF65-F5344CB8AC3E}">
        <p14:creationId xmlns:p14="http://schemas.microsoft.com/office/powerpoint/2010/main" val="784399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4D01-1AE5-49D3-C894-A19F356E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B664D-275E-31BE-55DE-8A430AC97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2478" cy="4351338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proxy server</a:t>
            </a:r>
            <a:r>
              <a:rPr lang="en-US" dirty="0"/>
              <a:t> acts as an intermediary between a user and the internet.</a:t>
            </a:r>
          </a:p>
          <a:p>
            <a:r>
              <a:rPr lang="en-US" dirty="0"/>
              <a:t>Hides the user’s IP, filters content, caches requests, or enforces security policies.</a:t>
            </a:r>
          </a:p>
          <a:p>
            <a:endParaRPr lang="en-US" dirty="0"/>
          </a:p>
        </p:txBody>
      </p:sp>
      <p:pic>
        <p:nvPicPr>
          <p:cNvPr id="6146" name="Picture 2" descr="What is a Proxy Server? Definition, Uses &amp; More | Fortinet">
            <a:extLst>
              <a:ext uri="{FF2B5EF4-FFF2-40B4-BE49-F238E27FC236}">
                <a16:creationId xmlns:a16="http://schemas.microsoft.com/office/drawing/2014/main" id="{4C0D7CB6-5BB1-0127-4A97-01FE254F8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0678" y="854764"/>
            <a:ext cx="5390322" cy="532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788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AA39-4231-3D1E-EE4F-83F7C7F2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DMZ (De-militarized zone/perimeter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04069-F7F4-CF71-02CC-C267AADB1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3574" cy="4351338"/>
          </a:xfrm>
        </p:spPr>
        <p:txBody>
          <a:bodyPr/>
          <a:lstStyle/>
          <a:p>
            <a:r>
              <a:rPr lang="en-US" dirty="0"/>
              <a:t>A DMZ is a </a:t>
            </a:r>
            <a:r>
              <a:rPr lang="en-US" b="1" dirty="0"/>
              <a:t>buffer network</a:t>
            </a:r>
            <a:r>
              <a:rPr lang="en-US" dirty="0"/>
              <a:t> between the internet (untrusted) and your internal network (trusted).</a:t>
            </a:r>
          </a:p>
          <a:p>
            <a:r>
              <a:rPr lang="en-US" dirty="0"/>
              <a:t>Public-facing servers (web, email, FTP) sit here, isolated from sensitive internal systems.</a:t>
            </a:r>
          </a:p>
          <a:p>
            <a:endParaRPr lang="en-US" dirty="0"/>
          </a:p>
        </p:txBody>
      </p:sp>
      <p:pic>
        <p:nvPicPr>
          <p:cNvPr id="7170" name="Picture 2" descr="Demilitarized Zone (DMZ) Explained - VPN Wiki - FineVPN Glossary">
            <a:extLst>
              <a:ext uri="{FF2B5EF4-FFF2-40B4-BE49-F238E27FC236}">
                <a16:creationId xmlns:a16="http://schemas.microsoft.com/office/drawing/2014/main" id="{B64893B8-3863-8C97-D940-B5B081C1A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774" y="1825625"/>
            <a:ext cx="5280301" cy="4194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781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329A-B735-6070-8585-CD2646CE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by Exception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3C172-6661-C4A7-3303-581DE016C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88757" cy="4351338"/>
          </a:xfrm>
        </p:spPr>
        <p:txBody>
          <a:bodyPr>
            <a:normAutofit/>
          </a:bodyPr>
          <a:lstStyle/>
          <a:p>
            <a:r>
              <a:rPr lang="en-US" dirty="0"/>
              <a:t>Monitoring network and system activity, but only raising alerts for unusual events or anomalies.</a:t>
            </a:r>
          </a:p>
          <a:p>
            <a:r>
              <a:rPr lang="en-US" dirty="0"/>
              <a:t>Reduces alert fatigue and allows security teams to focus on real threats.</a:t>
            </a:r>
          </a:p>
          <a:p>
            <a:r>
              <a:rPr lang="en-US" dirty="0"/>
              <a:t>Examples: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user logging in at 3:00 a.m. from a foreign country.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Sudden spikes in network traffic.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Access to files outside normal behavior patterns.</a:t>
            </a:r>
          </a:p>
        </p:txBody>
      </p:sp>
    </p:spTree>
    <p:extLst>
      <p:ext uri="{BB962C8B-B14F-4D97-AF65-F5344CB8AC3E}">
        <p14:creationId xmlns:p14="http://schemas.microsoft.com/office/powerpoint/2010/main" val="1113348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81D8-5647-3C6C-99DD-A8320A37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Retrofitting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3B717-85FC-2F1D-5D68-AE989FEA9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Retrofitting security = adding protections after a system is already built.</a:t>
            </a:r>
          </a:p>
          <a:p>
            <a:r>
              <a:rPr lang="en-US" dirty="0"/>
              <a:t>Can include firewalls, encryption, access controls, antivirus, or patching vulnerabilities.</a:t>
            </a:r>
          </a:p>
          <a:p>
            <a:r>
              <a:rPr lang="en-US" dirty="0"/>
              <a:t>Better than nothing, but proactive security design from the start is ideal.</a:t>
            </a:r>
          </a:p>
          <a:p>
            <a:r>
              <a:rPr lang="en-US" dirty="0"/>
              <a:t>Example :</a:t>
            </a:r>
          </a:p>
          <a:p>
            <a:pPr marL="0" indent="0">
              <a:buNone/>
            </a:pPr>
            <a:r>
              <a:rPr lang="en-US" dirty="0"/>
              <a:t>A company builds a network or application </a:t>
            </a:r>
            <a:r>
              <a:rPr lang="en-US" b="1" dirty="0"/>
              <a:t>without strong security features</a:t>
            </a:r>
            <a:r>
              <a:rPr lang="en-US" dirty="0"/>
              <a:t>. Later, they face </a:t>
            </a:r>
            <a:r>
              <a:rPr lang="en-US" b="1" dirty="0"/>
              <a:t>new threats</a:t>
            </a:r>
            <a:r>
              <a:rPr lang="en-US" dirty="0"/>
              <a:t> or realize vulnerabilities exist. They add: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Firewalls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Antivirus software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Intrusion detection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Encryption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103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397C-B12E-F828-B283-0B50DD92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Persistent Threat (APT)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40E76-7461-EF85-DF59-DDA7BED6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APT is a long-term, targeted cyberattack.</a:t>
            </a:r>
          </a:p>
          <a:p>
            <a:r>
              <a:rPr lang="en-US" dirty="0"/>
              <a:t>Usually involves sophisticated hackers who infiltrate networks and remain undetected.</a:t>
            </a:r>
          </a:p>
          <a:p>
            <a:r>
              <a:rPr lang="en-US" dirty="0"/>
              <a:t>Goal: steal sensitive information, intellectual property, or monitor activity.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551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BAB8B-70A3-6916-9AB6-C6520869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Targeted APT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D48A-165A-9FB0-BC2E-DD8A0D97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targeted APT attack = hackers focusing on a specific organization.</a:t>
            </a:r>
          </a:p>
          <a:p>
            <a:r>
              <a:rPr lang="en-US" dirty="0"/>
              <a:t>Often involves custom malware, social engineering, and careful planning.</a:t>
            </a:r>
          </a:p>
          <a:p>
            <a:r>
              <a:rPr lang="en-US" dirty="0"/>
              <a:t>An attacker wants access to a specific company’s confidential designs.</a:t>
            </a:r>
          </a:p>
          <a:p>
            <a:r>
              <a:rPr lang="en-US" dirty="0"/>
              <a:t>Steps they might take: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Reconnaissance – research employees, emails, and systems.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Spear-phishing – send personalized emails to trick a key employee into opening malware.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Install malware that hides in the system for months.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Exfiltrate sensitive data slowly to avoid detection.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Unlike generic malware, this attack is highly customized and patient.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659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4375-6CD7-6D28-B812-B6E8B4E7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Third-Party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567FE-1BAB-6E77-CCCC-BBEDCEF22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Third-party security = ensuring that partners, suppliers, or service providers don’t introduce vulnerabilities.</a:t>
            </a:r>
          </a:p>
          <a:p>
            <a:r>
              <a:rPr lang="en-US" dirty="0"/>
              <a:t>Many breaches happen through weak links in third-party systems.</a:t>
            </a:r>
          </a:p>
          <a:p>
            <a:r>
              <a:rPr lang="en-US" dirty="0"/>
              <a:t>A company has strong internal cybersecurity.</a:t>
            </a:r>
          </a:p>
          <a:p>
            <a:r>
              <a:rPr lang="en-US" dirty="0"/>
              <a:t>They work with third-party vendors,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Cloud providers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Software developers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Payment processors</a:t>
            </a:r>
          </a:p>
          <a:p>
            <a:r>
              <a:rPr lang="en-US" dirty="0"/>
              <a:t>If a vendor is compromised or careless, attackers can use them as a gateway to the company’s network.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In 2013, Target was breached because hackers accessed Target’s network through a third-party HVAC vendor.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00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174DF-697F-A2F6-0F93-7D28002B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F274-034B-DD84-DE66-9D0D2FC26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Concept</a:t>
            </a:r>
            <a:r>
              <a:rPr lang="en-US" dirty="0"/>
              <a:t>: Manipulating people into revealing confidential information.</a:t>
            </a:r>
          </a:p>
          <a:p>
            <a:r>
              <a:rPr lang="en-US" b="1" dirty="0"/>
              <a:t>Why it matters</a:t>
            </a:r>
            <a:r>
              <a:rPr lang="en-US" dirty="0"/>
              <a:t>: Humans are often the weakest link in security.</a:t>
            </a:r>
          </a:p>
          <a:p>
            <a:r>
              <a:rPr lang="en-US" b="1" dirty="0"/>
              <a:t>Examples</a:t>
            </a:r>
            <a:r>
              <a:rPr lang="en-US" dirty="0"/>
              <a:t>: Impersonation, baiting, pretexting.</a:t>
            </a:r>
          </a:p>
          <a:p>
            <a:r>
              <a:rPr lang="en-US" b="1" dirty="0"/>
              <a:t>Defense</a:t>
            </a:r>
            <a:r>
              <a:rPr lang="en-US" dirty="0"/>
              <a:t>: Security awareness training, strict verification policies.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74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42F1-351A-3E90-AAC9-21AEF171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F4ABF-2CDA-9D6E-CD5A-D8889EE9F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Concept</a:t>
            </a:r>
            <a:r>
              <a:rPr lang="en-US" dirty="0"/>
              <a:t>: Fake emails or websites trick users into giving credentials.</a:t>
            </a:r>
          </a:p>
          <a:p>
            <a:r>
              <a:rPr lang="en-US" b="1" dirty="0"/>
              <a:t>Why it matters</a:t>
            </a:r>
            <a:r>
              <a:rPr lang="en-US" dirty="0"/>
              <a:t>: Common cause of breaches.</a:t>
            </a:r>
          </a:p>
          <a:p>
            <a:r>
              <a:rPr lang="en-US" b="1" dirty="0"/>
              <a:t>Defense</a:t>
            </a:r>
            <a:r>
              <a:rPr lang="en-US" dirty="0"/>
              <a:t>: Anti-phishing filters, employee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885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91AA-B373-8D62-E187-6DB42AF0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Awareness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95E9-F424-4E03-0F72-FD81D6C52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Concept</a:t>
            </a:r>
            <a:r>
              <a:rPr lang="en-US" dirty="0"/>
              <a:t>: Training employees to recognize and prevent threats.</a:t>
            </a:r>
          </a:p>
          <a:p>
            <a:r>
              <a:rPr lang="en-US" b="1" dirty="0"/>
              <a:t>Why it matters</a:t>
            </a:r>
            <a:r>
              <a:rPr lang="en-US" dirty="0"/>
              <a:t>: Prevents social engineering and human error.</a:t>
            </a:r>
          </a:p>
          <a:p>
            <a:r>
              <a:rPr lang="en-US" b="1" dirty="0"/>
              <a:t>Focus areas</a:t>
            </a:r>
            <a:r>
              <a:rPr lang="en-US" dirty="0"/>
              <a:t>: Password hygiene, phishing recognition, reporting.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517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454C-3589-7064-243C-D7FC604A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Assessment &amp;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F71C-F801-1AC3-71BE-BD3090A4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Assessment</a:t>
            </a:r>
            <a:r>
              <a:rPr lang="en-US" dirty="0"/>
              <a:t>: Identifies vulnerabilities before attackers do.</a:t>
            </a:r>
          </a:p>
          <a:p>
            <a:r>
              <a:rPr lang="en-US" b="1" dirty="0"/>
              <a:t>Audit</a:t>
            </a:r>
            <a:r>
              <a:rPr lang="en-US" dirty="0"/>
              <a:t>: Checks compliance with standards and policies.</a:t>
            </a:r>
          </a:p>
          <a:p>
            <a:r>
              <a:rPr lang="en-US" b="1" dirty="0"/>
              <a:t>Why it matters</a:t>
            </a:r>
            <a:r>
              <a:rPr lang="en-US" dirty="0"/>
              <a:t>: Ensures systems are secure and regulatory-compliant.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103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0292A-0898-D14A-383B-7D2B87283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GRC (Governance, Risk, Compliance)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E8DD7-D817-0B4B-07CA-4EC6C5EC1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Governance</a:t>
            </a:r>
            <a:r>
              <a:rPr lang="en-US" dirty="0"/>
              <a:t>: Leadership, roles, responsibilities.</a:t>
            </a:r>
          </a:p>
          <a:p>
            <a:r>
              <a:rPr lang="en-US" b="1" dirty="0"/>
              <a:t>Risk</a:t>
            </a:r>
            <a:r>
              <a:rPr lang="en-US" dirty="0"/>
              <a:t>: Identifying and mitigating threats.</a:t>
            </a:r>
          </a:p>
          <a:p>
            <a:r>
              <a:rPr lang="en-US" b="1" dirty="0"/>
              <a:t>Compliance</a:t>
            </a:r>
            <a:r>
              <a:rPr lang="en-US" dirty="0"/>
              <a:t>: Meeting regulatory/industry requirements.</a:t>
            </a:r>
          </a:p>
          <a:p>
            <a:r>
              <a:rPr lang="en-US" b="1" dirty="0"/>
              <a:t>Why it matters</a:t>
            </a:r>
            <a:r>
              <a:rPr lang="en-US" dirty="0"/>
              <a:t>: Aligns business goals with security.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583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EAF0-0FFF-AFC8-1477-145EAC820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NIST(</a:t>
            </a:r>
            <a:r>
              <a:rPr lang="en-US" b="1" dirty="0"/>
              <a:t>National Institute of Standards and Technology) </a:t>
            </a:r>
            <a:r>
              <a:rPr lang="en-US" dirty="0"/>
              <a:t> Cybersecurity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8F86-A7CA-D314-D686-CA7D30791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Functions</a:t>
            </a:r>
            <a:r>
              <a:rPr lang="en-US" dirty="0"/>
              <a:t>: Identify, Protect, Detect, Respond, Recover.</a:t>
            </a:r>
          </a:p>
          <a:p>
            <a:r>
              <a:rPr lang="en-US" b="1" dirty="0"/>
              <a:t>Why it matters</a:t>
            </a:r>
            <a:r>
              <a:rPr lang="en-US" dirty="0"/>
              <a:t>: Provides a structured approach to security.</a:t>
            </a:r>
          </a:p>
          <a:p>
            <a:r>
              <a:rPr lang="en-US" b="1" dirty="0"/>
              <a:t>Usage</a:t>
            </a:r>
            <a:r>
              <a:rPr lang="en-US" dirty="0"/>
              <a:t>: Helps organizations assess and improve cybersecurity posture.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910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8902-EC21-87F2-C579-7DF19A706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Maturity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6B092-FAF7-57C1-068A-B33483060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Concept</a:t>
            </a:r>
            <a:r>
              <a:rPr lang="en-US" dirty="0"/>
              <a:t>: Measures how advanced an organization’s cybersecurity is.</a:t>
            </a:r>
          </a:p>
          <a:p>
            <a:r>
              <a:rPr lang="en-US" b="1" dirty="0"/>
              <a:t>Levels</a:t>
            </a:r>
            <a:r>
              <a:rPr lang="en-US" dirty="0"/>
              <a:t>: Initial → Repeatable → Defined → Managed → Optimizing.</a:t>
            </a:r>
          </a:p>
          <a:p>
            <a:r>
              <a:rPr lang="en-US" b="1" dirty="0"/>
              <a:t>Why it matters</a:t>
            </a:r>
            <a:r>
              <a:rPr lang="en-US" dirty="0"/>
              <a:t>: Guides continuous improvement.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725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F81F-8AA3-FD0A-9D9F-CB619C25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PCI-DSS (Payment Card Industry Data Security Standard)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FCF02-DE59-AA93-FDA0-EA5AABE5E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r>
              <a:rPr lang="en-US" dirty="0"/>
              <a:t>: Protect cardholder data.</a:t>
            </a:r>
          </a:p>
          <a:p>
            <a:r>
              <a:rPr lang="en-US" b="1" dirty="0"/>
              <a:t>Requirements</a:t>
            </a:r>
            <a:r>
              <a:rPr lang="en-US" dirty="0"/>
              <a:t>: Encryption, strong access control, monitoring.</a:t>
            </a:r>
          </a:p>
          <a:p>
            <a:r>
              <a:rPr lang="en-US" b="1" dirty="0"/>
              <a:t>Why it matters</a:t>
            </a:r>
            <a:r>
              <a:rPr lang="en-US" dirty="0"/>
              <a:t>: Mandatory for businesses handling credit card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572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3BB2-3B46-E978-E007-DEE22624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QSA (Qualified Security Assessor)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0CEDA-1F31-563E-4C13-1A4833375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Role</a:t>
            </a:r>
            <a:r>
              <a:rPr lang="en-US" dirty="0"/>
              <a:t>: Certified professional authorized to audit PCI-DSS compliance.</a:t>
            </a:r>
          </a:p>
          <a:p>
            <a:r>
              <a:rPr lang="en-US" b="1" dirty="0"/>
              <a:t>Why it matters</a:t>
            </a:r>
            <a:r>
              <a:rPr lang="en-US" dirty="0"/>
              <a:t>: Ensures merchants follow payment security standards.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81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875A-F671-F63F-2DE9-E66A2B9B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Cloud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93F31-8B40-1D4A-A5DD-FDEC77933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Hybrid Cloud</a:t>
            </a:r>
            <a:r>
              <a:rPr lang="en-US" sz="2400" dirty="0"/>
              <a:t> = Combination of </a:t>
            </a:r>
            <a:r>
              <a:rPr lang="en-US" sz="2400" b="1" dirty="0"/>
              <a:t>on-premises infrastructure</a:t>
            </a:r>
            <a:r>
              <a:rPr lang="en-US" sz="2400" dirty="0"/>
              <a:t> (company data centers) + </a:t>
            </a:r>
            <a:r>
              <a:rPr lang="en-US" sz="2400" b="1" dirty="0"/>
              <a:t>public cloud services</a:t>
            </a:r>
            <a:r>
              <a:rPr lang="en-US" sz="2400" dirty="0"/>
              <a:t> (AWS, Azure, Google Cloud, etc.).</a:t>
            </a:r>
            <a:r>
              <a:rPr lang="en-US" sz="2400" b="1" dirty="0"/>
              <a:t>Concept</a:t>
            </a:r>
            <a:r>
              <a:rPr lang="en-US" sz="2400" dirty="0"/>
              <a:t>: Protecting workloads across on-premise + cloud.</a:t>
            </a:r>
          </a:p>
          <a:p>
            <a:r>
              <a:rPr lang="en-US" sz="2400" b="1" dirty="0"/>
              <a:t>Challenges</a:t>
            </a:r>
            <a:r>
              <a:rPr lang="en-US" sz="2400" dirty="0"/>
              <a:t>: Data movement, visibility, identity management.</a:t>
            </a:r>
          </a:p>
          <a:p>
            <a:r>
              <a:rPr lang="en-US" sz="2400" b="1" dirty="0"/>
              <a:t>Defense</a:t>
            </a:r>
            <a:r>
              <a:rPr lang="en-US" sz="2400" dirty="0"/>
              <a:t>: Zero Trust, encryption, CASB tools.</a:t>
            </a:r>
          </a:p>
          <a:p>
            <a:endParaRPr lang="en-US" dirty="0"/>
          </a:p>
        </p:txBody>
      </p:sp>
      <p:pic>
        <p:nvPicPr>
          <p:cNvPr id="8194" name="Picture 2" descr="What Is Hybrid Cloud Security? | Cisco Meraki">
            <a:extLst>
              <a:ext uri="{FF2B5EF4-FFF2-40B4-BE49-F238E27FC236}">
                <a16:creationId xmlns:a16="http://schemas.microsoft.com/office/drawing/2014/main" id="{B415B072-1334-FF39-7C39-CCECC22D7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0580" y="3771003"/>
            <a:ext cx="5450840" cy="272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517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BB788-0D4D-F565-2A19-15E0BADC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Shift to Hybrid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2DC75-7DAF-C4FE-2260-BBAB68A17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u="sng" dirty="0"/>
              <a:t>Why Enterprises Shift to Hybrid Cloud</a:t>
            </a:r>
          </a:p>
          <a:p>
            <a:r>
              <a:rPr lang="en-US" b="1" dirty="0"/>
              <a:t>Flexibility</a:t>
            </a:r>
            <a:r>
              <a:rPr lang="en-US" dirty="0"/>
              <a:t> → Run workloads where they make the most sense (on-prem for sensitive data, cloud for scalability).</a:t>
            </a:r>
          </a:p>
          <a:p>
            <a:r>
              <a:rPr lang="en-US" b="1" dirty="0"/>
              <a:t>Scalability</a:t>
            </a:r>
            <a:r>
              <a:rPr lang="en-US" dirty="0"/>
              <a:t> → Burst into the cloud when extra capacity is needed.</a:t>
            </a:r>
          </a:p>
          <a:p>
            <a:r>
              <a:rPr lang="en-US" b="1" dirty="0"/>
              <a:t>Cost Efficiency</a:t>
            </a:r>
            <a:r>
              <a:rPr lang="en-US" dirty="0"/>
              <a:t> → Pay-as-you-go cloud model while keeping legacy systems running internally.</a:t>
            </a:r>
          </a:p>
          <a:p>
            <a:r>
              <a:rPr lang="en-US" b="1" dirty="0"/>
              <a:t>Innovation</a:t>
            </a:r>
            <a:r>
              <a:rPr lang="en-US" dirty="0"/>
              <a:t> → Access to AI, machine learning, and advanced analytics available only in the cloud.</a:t>
            </a:r>
          </a:p>
          <a:p>
            <a:pPr marL="0" indent="0">
              <a:buNone/>
            </a:pPr>
            <a:r>
              <a:rPr lang="en-US" b="1" u="sng" dirty="0"/>
              <a:t>Challenges</a:t>
            </a:r>
          </a:p>
          <a:p>
            <a:r>
              <a:rPr lang="en-US" b="1" dirty="0"/>
              <a:t>Expanded Attack Surface</a:t>
            </a:r>
            <a:r>
              <a:rPr lang="en-US" dirty="0"/>
              <a:t> → Security must cover both on-prem and cloud.</a:t>
            </a:r>
          </a:p>
          <a:p>
            <a:r>
              <a:rPr lang="en-US" b="1" dirty="0"/>
              <a:t>Misconfigurations</a:t>
            </a:r>
            <a:r>
              <a:rPr lang="en-US" dirty="0"/>
              <a:t> → Cloud misconfigurations are one of the top causes of breaches.</a:t>
            </a:r>
          </a:p>
          <a:p>
            <a:r>
              <a:rPr lang="en-US" b="1" dirty="0"/>
              <a:t>Data Movement</a:t>
            </a:r>
            <a:r>
              <a:rPr lang="en-US" dirty="0"/>
              <a:t> → Data traveling between environments needs strong encryption.</a:t>
            </a:r>
          </a:p>
          <a:p>
            <a:r>
              <a:rPr lang="en-US" b="1" dirty="0"/>
              <a:t>Identity &amp; Access Management</a:t>
            </a:r>
            <a:r>
              <a:rPr lang="en-US" dirty="0"/>
              <a:t> → Ensuring consistent controls across multiple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3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BAD7-A2FC-A322-E0EB-EA36D06E4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Advanced Hybrid Cloud Security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D0380-4D3B-C585-7B75-2F920130C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85640" cy="4351338"/>
          </a:xfrm>
        </p:spPr>
        <p:txBody>
          <a:bodyPr/>
          <a:lstStyle/>
          <a:p>
            <a:r>
              <a:rPr lang="en-US" b="1" dirty="0"/>
              <a:t>Components</a:t>
            </a:r>
            <a:r>
              <a:rPr lang="en-US" dirty="0"/>
              <a:t>: Zero Trust, CASB, </a:t>
            </a:r>
            <a:r>
              <a:rPr lang="en-US" dirty="0" err="1"/>
              <a:t>microsegmentation</a:t>
            </a:r>
            <a:r>
              <a:rPr lang="en-US" dirty="0"/>
              <a:t>, encryption.</a:t>
            </a:r>
          </a:p>
          <a:p>
            <a:r>
              <a:rPr lang="en-US" b="1" dirty="0"/>
              <a:t>Goal</a:t>
            </a:r>
            <a:r>
              <a:rPr lang="en-US" dirty="0"/>
              <a:t>: Unified protection across multi-cloud + on-prem.</a:t>
            </a:r>
          </a:p>
          <a:p>
            <a:r>
              <a:rPr lang="en-US" b="1" dirty="0"/>
              <a:t>Focus</a:t>
            </a:r>
            <a:r>
              <a:rPr lang="en-US" dirty="0"/>
              <a:t>: Identity, workload, and data security.</a:t>
            </a:r>
          </a:p>
          <a:p>
            <a:endParaRPr lang="en-US" dirty="0"/>
          </a:p>
        </p:txBody>
      </p:sp>
      <p:pic>
        <p:nvPicPr>
          <p:cNvPr id="9218" name="Picture 2" descr="What Is Hybrid Cloud Security? How it Works &amp; Best Practices">
            <a:extLst>
              <a:ext uri="{FF2B5EF4-FFF2-40B4-BE49-F238E27FC236}">
                <a16:creationId xmlns:a16="http://schemas.microsoft.com/office/drawing/2014/main" id="{014F5706-2514-6593-2682-1EB5FCDE7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603" y="1174176"/>
            <a:ext cx="4069397" cy="500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6439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3434-6185-5674-3BD3-11CDC1B0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Access Security Broker (CASB)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176D7-82B5-CF7B-2AAD-5C1E3BD14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 </a:t>
            </a:r>
            <a:r>
              <a:rPr lang="en-US" b="1" dirty="0"/>
              <a:t>CASB (Cloud Access Security Broker)</a:t>
            </a:r>
            <a:r>
              <a:rPr lang="en-US" dirty="0"/>
              <a:t> is a </a:t>
            </a:r>
            <a:r>
              <a:rPr lang="en-US" b="1" dirty="0"/>
              <a:t>security tool that sits between users and cloud services</a:t>
            </a:r>
            <a:r>
              <a:rPr lang="en-US" dirty="0"/>
              <a:t> (like Google Workspace, Microsoft 365, Salesforce, etc.) to enforce security policies.</a:t>
            </a:r>
          </a:p>
          <a:p>
            <a:r>
              <a:rPr lang="en-US" dirty="0"/>
              <a:t>Think of it as a </a:t>
            </a:r>
            <a:r>
              <a:rPr lang="en-US" b="1" dirty="0"/>
              <a:t>checkpoint for cloud traffic</a:t>
            </a:r>
            <a:r>
              <a:rPr lang="en-US" dirty="0"/>
              <a:t>.</a:t>
            </a:r>
          </a:p>
          <a:p>
            <a:r>
              <a:rPr lang="en-US" b="1" dirty="0"/>
              <a:t>Visibility</a:t>
            </a:r>
            <a:r>
              <a:rPr lang="en-US" dirty="0"/>
              <a:t> → See what cloud apps employees are using (shadow IT).</a:t>
            </a:r>
          </a:p>
          <a:p>
            <a:r>
              <a:rPr lang="en-US" b="1" dirty="0"/>
              <a:t>Access Control</a:t>
            </a:r>
            <a:r>
              <a:rPr lang="en-US" dirty="0"/>
              <a:t> → Block or allow specific activities (e.g., prevent downloading sensitive data).</a:t>
            </a:r>
          </a:p>
          <a:p>
            <a:r>
              <a:rPr lang="en-US" b="1" dirty="0"/>
              <a:t>Data Protection</a:t>
            </a:r>
            <a:r>
              <a:rPr lang="en-US" dirty="0"/>
              <a:t> → Encrypt or mask sensitive information before it goes to the cloud.</a:t>
            </a:r>
          </a:p>
          <a:p>
            <a:r>
              <a:rPr lang="en-US" b="1" dirty="0"/>
              <a:t>Threat Protection</a:t>
            </a:r>
            <a:r>
              <a:rPr lang="en-US" dirty="0"/>
              <a:t> → Detect malware, risky logins, or compromised accounts.</a:t>
            </a:r>
          </a:p>
          <a:p>
            <a:r>
              <a:rPr lang="en-US" b="1" dirty="0"/>
              <a:t>Compliance</a:t>
            </a:r>
            <a:r>
              <a:rPr lang="en-US" dirty="0"/>
              <a:t> → Enforce regulations like GDPR, HIPAA, PCI-DSS.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Microsoft Defender for Cloud Apps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Netskope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McAfee MVISION Cloud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Palo Alto Networks Prisma Cloud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5146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EF93-DA46-CF0F-8BD2-A6BC6F61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Microsegmentation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21941-55D0-A309-C6DB-A0EBFB1D4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Microsegmentation</a:t>
            </a:r>
            <a:r>
              <a:rPr lang="en-US" dirty="0"/>
              <a:t> = Dividing a network into </a:t>
            </a:r>
            <a:r>
              <a:rPr lang="en-US" b="1" dirty="0"/>
              <a:t>small, isolated zones</a:t>
            </a:r>
            <a:r>
              <a:rPr lang="en-US" dirty="0"/>
              <a:t> (down to the workload or application level).</a:t>
            </a:r>
          </a:p>
          <a:p>
            <a:r>
              <a:rPr lang="en-US" dirty="0"/>
              <a:t>Breaks networks into </a:t>
            </a:r>
            <a:r>
              <a:rPr lang="en-US" b="1" dirty="0"/>
              <a:t>isolated security zones</a:t>
            </a:r>
            <a:r>
              <a:rPr lang="en-US" dirty="0"/>
              <a:t> at the application/workload level.</a:t>
            </a:r>
          </a:p>
          <a:p>
            <a:r>
              <a:rPr lang="en-US" dirty="0"/>
              <a:t>Prevents </a:t>
            </a:r>
            <a:r>
              <a:rPr lang="en-US" b="1" dirty="0"/>
              <a:t>lateral movement</a:t>
            </a:r>
            <a:r>
              <a:rPr lang="en-US" dirty="0"/>
              <a:t> after a breach.</a:t>
            </a:r>
          </a:p>
          <a:p>
            <a:r>
              <a:rPr lang="en-US" dirty="0"/>
              <a:t>Uses </a:t>
            </a:r>
            <a:r>
              <a:rPr lang="en-US" b="1" dirty="0"/>
              <a:t>software-defined policies</a:t>
            </a:r>
            <a:r>
              <a:rPr lang="en-US" dirty="0"/>
              <a:t> instead of just firewalls.</a:t>
            </a:r>
          </a:p>
          <a:p>
            <a:r>
              <a:rPr lang="en-US" b="1" dirty="0"/>
              <a:t>Benefits</a:t>
            </a:r>
            <a:r>
              <a:rPr lang="en-US" dirty="0"/>
              <a:t>: Containment, compliance, visibility.</a:t>
            </a:r>
          </a:p>
          <a:p>
            <a:r>
              <a:rPr lang="en-US" b="1" dirty="0"/>
              <a:t>Challenges</a:t>
            </a:r>
            <a:r>
              <a:rPr lang="en-US" dirty="0"/>
              <a:t>: Complexity, scaling across hybrid environments.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6922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F55C-115E-84E0-EAB5-20B9AE06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of Isolated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AC403-B785-DA99-665E-E7318C10E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Isolated = </a:t>
            </a:r>
            <a:r>
              <a:rPr lang="en-US" b="1" dirty="0"/>
              <a:t>not connected</a:t>
            </a:r>
            <a:r>
              <a:rPr lang="en-US" dirty="0"/>
              <a:t> to external networks.</a:t>
            </a:r>
          </a:p>
          <a:p>
            <a:r>
              <a:rPr lang="en-US" b="1" dirty="0"/>
              <a:t>Isolated server</a:t>
            </a:r>
            <a:r>
              <a:rPr lang="en-US" dirty="0"/>
              <a:t> = a server deliberately kept off the main corporate network or internet (sometimes called </a:t>
            </a:r>
            <a:r>
              <a:rPr lang="en-US" i="1" dirty="0"/>
              <a:t>air-gapped</a:t>
            </a:r>
            <a:r>
              <a:rPr lang="en-US" dirty="0"/>
              <a:t>).</a:t>
            </a:r>
          </a:p>
          <a:p>
            <a:r>
              <a:rPr lang="en-US" dirty="0"/>
              <a:t>Protects critical data but still vulnerable to </a:t>
            </a:r>
            <a:r>
              <a:rPr lang="en-US" b="1" dirty="0"/>
              <a:t>insiders &amp; physical attacks</a:t>
            </a:r>
            <a:r>
              <a:rPr lang="en-US" dirty="0"/>
              <a:t>.</a:t>
            </a:r>
          </a:p>
          <a:p>
            <a:r>
              <a:rPr lang="en-US" dirty="0"/>
              <a:t>Key defenses: </a:t>
            </a:r>
            <a:r>
              <a:rPr lang="en-US" b="1" dirty="0"/>
              <a:t>Access control, removable media restrictions, air-gapping, encryption, physical security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2172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FA4A-436B-864F-72D3-BE63233A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Outside Perimeters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70C8E-5DC5-BFDA-274D-4730F4556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Old model: </a:t>
            </a:r>
            <a:r>
              <a:rPr lang="en-US" i="1" dirty="0"/>
              <a:t>firewalls protect the castle</a:t>
            </a:r>
            <a:r>
              <a:rPr lang="en-US" dirty="0"/>
              <a:t>.</a:t>
            </a:r>
          </a:p>
          <a:p>
            <a:r>
              <a:rPr lang="en-US" dirty="0"/>
              <a:t>New reality: </a:t>
            </a:r>
            <a:r>
              <a:rPr lang="en-US" b="1" dirty="0"/>
              <a:t>no single perimeter</a:t>
            </a:r>
            <a:r>
              <a:rPr lang="en-US" dirty="0"/>
              <a:t> → users, devices, apps everywhere.</a:t>
            </a:r>
          </a:p>
          <a:p>
            <a:r>
              <a:rPr lang="en-US" dirty="0"/>
              <a:t>Security must focus on </a:t>
            </a:r>
            <a:r>
              <a:rPr lang="en-US" b="1" dirty="0"/>
              <a:t>identity, endpoints, cloud, and Zero Trust(</a:t>
            </a:r>
            <a:r>
              <a:rPr lang="en-US" dirty="0"/>
              <a:t>“Never trust, always verify.”)</a:t>
            </a:r>
          </a:p>
        </p:txBody>
      </p:sp>
    </p:spTree>
    <p:extLst>
      <p:ext uri="{BB962C8B-B14F-4D97-AF65-F5344CB8AC3E}">
        <p14:creationId xmlns:p14="http://schemas.microsoft.com/office/powerpoint/2010/main" val="11258140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3700-C458-116D-E82F-50E1975E5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Onion routing and 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D65FE-B4F0-7A0E-B33F-81C244F9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30440" cy="43513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Onion Routing (Concept)</a:t>
            </a:r>
          </a:p>
          <a:p>
            <a:r>
              <a:rPr lang="en-US" dirty="0"/>
              <a:t>A method of sending internet traffic through </a:t>
            </a:r>
            <a:r>
              <a:rPr lang="en-US" b="1" dirty="0"/>
              <a:t>multiple layers of encryption</a:t>
            </a:r>
            <a:r>
              <a:rPr lang="en-US" dirty="0"/>
              <a:t>.</a:t>
            </a:r>
          </a:p>
          <a:p>
            <a:r>
              <a:rPr lang="en-US" dirty="0"/>
              <a:t>Each relay/node removes </a:t>
            </a:r>
            <a:r>
              <a:rPr lang="en-US" b="1" dirty="0"/>
              <a:t>one layer</a:t>
            </a:r>
            <a:r>
              <a:rPr lang="en-US" dirty="0"/>
              <a:t> of encryption (like peeling an onion) to reveal the next destination.</a:t>
            </a:r>
          </a:p>
          <a:p>
            <a:r>
              <a:rPr lang="en-US" dirty="0"/>
              <a:t>No single node knows both the sender </a:t>
            </a:r>
            <a:r>
              <a:rPr lang="en-US" i="1" dirty="0"/>
              <a:t>and</a:t>
            </a:r>
            <a:r>
              <a:rPr lang="en-US" dirty="0"/>
              <a:t> the final recipient.</a:t>
            </a:r>
          </a:p>
          <a:p>
            <a:pPr marL="0" indent="0">
              <a:buNone/>
            </a:pPr>
            <a:r>
              <a:rPr lang="en-US" b="1" dirty="0"/>
              <a:t>2.     TOR (The Onion Router)</a:t>
            </a:r>
          </a:p>
          <a:p>
            <a:r>
              <a:rPr lang="en-US" dirty="0"/>
              <a:t>A global network that implements onion routing.</a:t>
            </a:r>
          </a:p>
          <a:p>
            <a:r>
              <a:rPr lang="en-US" dirty="0"/>
              <a:t>Provides </a:t>
            </a:r>
            <a:r>
              <a:rPr lang="en-US" b="1" dirty="0"/>
              <a:t>anonymity</a:t>
            </a:r>
            <a:r>
              <a:rPr lang="en-US" dirty="0"/>
              <a:t> for users by hiding IP addresses and routes.</a:t>
            </a:r>
          </a:p>
          <a:p>
            <a:r>
              <a:rPr lang="en-US" dirty="0"/>
              <a:t>Anyone can use it via the TOR Browser.</a:t>
            </a:r>
          </a:p>
          <a:p>
            <a:pPr marL="0" indent="0">
              <a:buNone/>
            </a:pPr>
            <a:r>
              <a:rPr lang="en-US" b="1" dirty="0"/>
              <a:t>Uses</a:t>
            </a:r>
            <a:r>
              <a:rPr lang="en-US" dirty="0"/>
              <a:t>: Privacy, censorship evasion, but also crime.</a:t>
            </a:r>
          </a:p>
          <a:p>
            <a:pPr marL="0" indent="0">
              <a:buNone/>
            </a:pPr>
            <a:r>
              <a:rPr lang="en-US" b="1" dirty="0"/>
              <a:t>Limitations</a:t>
            </a:r>
            <a:r>
              <a:rPr lang="en-US" dirty="0"/>
              <a:t>: Slow, exit node risks, not 100% foolproof.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42" name="Picture 2" descr="Demystifying the Dark Web: An Introduction to Tor and Onion Routing –  Networks at ITP">
            <a:extLst>
              <a:ext uri="{FF2B5EF4-FFF2-40B4-BE49-F238E27FC236}">
                <a16:creationId xmlns:a16="http://schemas.microsoft.com/office/drawing/2014/main" id="{5ABAF947-3AB7-32A2-A79B-0F91B6126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641" y="1825625"/>
            <a:ext cx="3860800" cy="372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0104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A50E-00AE-5C84-2E89-D61DAEDC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Attribution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07323-BA46-AFB7-2D38-371F7D575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Identifies </a:t>
            </a:r>
            <a:r>
              <a:rPr lang="en-US" b="1" dirty="0"/>
              <a:t>who is behind an attack</a:t>
            </a:r>
            <a:r>
              <a:rPr lang="en-US" dirty="0"/>
              <a:t>.</a:t>
            </a:r>
          </a:p>
          <a:p>
            <a:r>
              <a:rPr lang="en-US" b="1" dirty="0"/>
              <a:t>Challenges</a:t>
            </a:r>
            <a:r>
              <a:rPr lang="en-US" dirty="0"/>
              <a:t>: Obfuscation(</a:t>
            </a:r>
            <a:r>
              <a:rPr lang="en-US" b="1" dirty="0"/>
              <a:t>making something harder to understand or analyze</a:t>
            </a:r>
            <a:r>
              <a:rPr lang="en-US" dirty="0"/>
              <a:t> by deliberately hiding its true meaning, structure, or purpose), false flags, anonymity tools.</a:t>
            </a:r>
          </a:p>
          <a:p>
            <a:r>
              <a:rPr lang="en-US" b="1" dirty="0"/>
              <a:t>Importance</a:t>
            </a:r>
            <a:r>
              <a:rPr lang="en-US" dirty="0"/>
              <a:t>: Law enforcement, deterrence, national security.</a:t>
            </a:r>
          </a:p>
          <a:p>
            <a:r>
              <a:rPr lang="en-US" b="1" dirty="0"/>
              <a:t>Methods</a:t>
            </a:r>
            <a:r>
              <a:rPr lang="en-US" dirty="0"/>
              <a:t>: Technical forensics + intelligence + behavioral analysis.</a:t>
            </a:r>
          </a:p>
        </p:txBody>
      </p:sp>
    </p:spTree>
    <p:extLst>
      <p:ext uri="{BB962C8B-B14F-4D97-AF65-F5344CB8AC3E}">
        <p14:creationId xmlns:p14="http://schemas.microsoft.com/office/powerpoint/2010/main" val="3548707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7C334-CDD8-B09F-5400-4DF9E39A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Infrastructure Requirements &amp;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8D600-BBC2-2486-AEAB-95943802E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Definition:</a:t>
            </a:r>
            <a:r>
              <a:rPr lang="en-US" dirty="0"/>
              <a:t> Essential systems vital for national security, economy, and public safety (e.g., energy, water, healthcare, transportation).</a:t>
            </a:r>
          </a:p>
          <a:p>
            <a:r>
              <a:rPr lang="en-US" b="1" dirty="0"/>
              <a:t>Key Requirements:</a:t>
            </a:r>
            <a:r>
              <a:rPr lang="en-US" dirty="0"/>
              <a:t> Confidentiality, integrity, availability, resilience, compliance.</a:t>
            </a:r>
          </a:p>
          <a:p>
            <a:r>
              <a:rPr lang="en-US" b="1" dirty="0"/>
              <a:t>Protection Strategies:</a:t>
            </a:r>
            <a:r>
              <a:rPr lang="en-US" dirty="0"/>
              <a:t> Network segmentation, access control, continuous monitoring, incident response planning, regular updates, employee training.</a:t>
            </a:r>
          </a:p>
        </p:txBody>
      </p:sp>
    </p:spTree>
    <p:extLst>
      <p:ext uri="{BB962C8B-B14F-4D97-AF65-F5344CB8AC3E}">
        <p14:creationId xmlns:p14="http://schemas.microsoft.com/office/powerpoint/2010/main" val="6204665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A7EC-699A-A4F3-9844-D1B5991A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Mobility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8E31B-A76D-2C1F-96A7-E887901B4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Definition:</a:t>
            </a:r>
            <a:r>
              <a:rPr lang="en-US" dirty="0"/>
              <a:t> Protecting mobile devices, applications, and data from cyber threats.</a:t>
            </a:r>
          </a:p>
          <a:p>
            <a:r>
              <a:rPr lang="en-US" b="1" dirty="0"/>
              <a:t>Key Risks:</a:t>
            </a:r>
            <a:r>
              <a:rPr lang="en-US" dirty="0"/>
              <a:t> Malware, data leaks, device theft, insecure apps, unsecured Wi-Fi networks.</a:t>
            </a:r>
          </a:p>
          <a:p>
            <a:r>
              <a:rPr lang="en-US" b="1" dirty="0"/>
              <a:t>Security Measures: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Strong authentication (PINs, biometrics)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Device encryption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Mobile device management (MDM) solutions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Regular software updates and patching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Secure access to corporate networks (VPNs, zero trust)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8267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BBB3-DD06-C879-DF94-2872EC812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Enterprise Mobile Device Management (MDM)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8CEE1-852F-D5F8-6235-A399236E2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security solution that helps organizations manage, monitor, and protect mobile devices (smartphones, tablets, laptops) used by employees.</a:t>
            </a:r>
          </a:p>
          <a:p>
            <a:r>
              <a:rPr lang="en-US" b="1" dirty="0"/>
              <a:t>Key Functions: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Device configuration and policy enforcement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 management and updates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Remote wipe or lock of lost/stolen devices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Security monitoring and threat detection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encryption and secure access to corporate resources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7187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B628-91DC-D7E6-C5D3-2750A9B1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IMSI Catching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434B4-D563-5D59-C9F8-31979127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technique used to intercept mobile device identifiers (IMSI – International Mobile Subscriber Identity) by simulating a cell tower.</a:t>
            </a:r>
          </a:p>
          <a:p>
            <a:r>
              <a:rPr lang="en-US" b="1" dirty="0"/>
              <a:t>Key Risks: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Eavesdropping on calls and messages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Tracking user location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Unauthorized access to mobile data</a:t>
            </a:r>
          </a:p>
          <a:p>
            <a:r>
              <a:rPr lang="en-US" b="1" dirty="0"/>
              <a:t>Protection Measures: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encrypted communication (e.g., VPNs, secure apps)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Keep devices updated with security patches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Avoid connecting to untrusted networks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5457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91434-7568-1385-2747-DAD23DF64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F493D-FD98-81B3-4F5F-695613126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Protecting Internet of Things (IoT) devices and networks from cyber threats.</a:t>
            </a:r>
          </a:p>
          <a:p>
            <a:r>
              <a:rPr lang="en-US" b="1" dirty="0"/>
              <a:t>Key Risks:</a:t>
            </a:r>
            <a:r>
              <a:rPr lang="en-US" dirty="0"/>
              <a:t> Device hijacking, data breaches, weak authentication, insecure firmware, and botnet attacks.</a:t>
            </a:r>
          </a:p>
          <a:p>
            <a:r>
              <a:rPr lang="en-US" b="1" dirty="0"/>
              <a:t>Security Measures: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Strong passwords and authentication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Regular firmware and software updates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Network segmentation for IoT devices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Data encryption for communication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Continuous monitoring and threat detection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202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75C5-3004-6BDB-2F55-76B7A1887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Deception &amp; Honeypots for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EB320-B76E-B37C-DB79-27A4B9761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Security techniques that use fake systems or data to lure attackers and study their methods.</a:t>
            </a:r>
          </a:p>
          <a:p>
            <a:r>
              <a:rPr lang="en-US" b="1" dirty="0"/>
              <a:t>Key Concepts: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Honeypots:</a:t>
            </a:r>
            <a:r>
              <a:rPr lang="en-US" dirty="0"/>
              <a:t> Decoy systems designed to attract attackers.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Deception Technology:</a:t>
            </a:r>
            <a:r>
              <a:rPr lang="en-US" dirty="0"/>
              <a:t> Creates fake assets, credentials, or network paths to mislead attackers.</a:t>
            </a:r>
          </a:p>
          <a:p>
            <a:r>
              <a:rPr lang="en-US" b="1" dirty="0"/>
              <a:t>Benefits: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Detects attacks early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Analyzes attacker behavior and tactics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Diverts attackers from real assets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Improves overall network security defenses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87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4189</TotalTime>
  <Words>3254</Words>
  <Application>Microsoft Macintosh PowerPoint</Application>
  <PresentationFormat>Widescreen</PresentationFormat>
  <Paragraphs>331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Aptos</vt:lpstr>
      <vt:lpstr>Aptos Display</vt:lpstr>
      <vt:lpstr>Arial</vt:lpstr>
      <vt:lpstr>Office Theme</vt:lpstr>
      <vt:lpstr>Cyber Defense in Action: Threat Detection, Infrastructure Security, and OpenSSL</vt:lpstr>
      <vt:lpstr>Outline</vt:lpstr>
      <vt:lpstr>Real-time cybersecurity (intro)</vt:lpstr>
      <vt:lpstr>TCP/IP </vt:lpstr>
      <vt:lpstr>FTP (file transfer protocol)</vt:lpstr>
      <vt:lpstr>TCP sequence number attack</vt:lpstr>
      <vt:lpstr>Why it dangerous and how to solve it?</vt:lpstr>
      <vt:lpstr>Packet Flooding (SYN Flood)</vt:lpstr>
      <vt:lpstr>Why it dangerous and how to solve it?</vt:lpstr>
      <vt:lpstr>Packet Sniffing</vt:lpstr>
      <vt:lpstr>Why is it dangerous and how to solve it?</vt:lpstr>
      <vt:lpstr>IP spoofing</vt:lpstr>
      <vt:lpstr>Why is it dangerous and how to solve it?</vt:lpstr>
      <vt:lpstr>Firewalls </vt:lpstr>
      <vt:lpstr>Why is it important?</vt:lpstr>
      <vt:lpstr>Types of firewalls</vt:lpstr>
      <vt:lpstr>Antivirus </vt:lpstr>
      <vt:lpstr>Proxy</vt:lpstr>
      <vt:lpstr>DMZ (De-militarized zone/perimeter network)</vt:lpstr>
      <vt:lpstr>Management by Exception</vt:lpstr>
      <vt:lpstr>Retrofitting security</vt:lpstr>
      <vt:lpstr>Advanced Persistent Threat (APT)</vt:lpstr>
      <vt:lpstr>Targeted APT Attack</vt:lpstr>
      <vt:lpstr>Third-Party Security</vt:lpstr>
      <vt:lpstr>Social Engineering</vt:lpstr>
      <vt:lpstr>Phishing</vt:lpstr>
      <vt:lpstr>Security Awareness</vt:lpstr>
      <vt:lpstr>Security Assessment &amp; Audit</vt:lpstr>
      <vt:lpstr>GRC (Governance, Risk, Compliance)</vt:lpstr>
      <vt:lpstr>NIST(National Institute of Standards and Technology)  Cybersecurity Framework</vt:lpstr>
      <vt:lpstr>Maturity Model</vt:lpstr>
      <vt:lpstr>PCI-DSS (Payment Card Industry Data Security Standard)</vt:lpstr>
      <vt:lpstr>QSA (Qualified Security Assessor)</vt:lpstr>
      <vt:lpstr>Hybrid Cloud Security</vt:lpstr>
      <vt:lpstr>Enterprise Shift to Hybrid Cloud</vt:lpstr>
      <vt:lpstr>Advanced Hybrid Cloud Security Architecture</vt:lpstr>
      <vt:lpstr>Cloud Access Security Broker (CASB)</vt:lpstr>
      <vt:lpstr>Microsegmentation</vt:lpstr>
      <vt:lpstr>Security of Isolated Servers</vt:lpstr>
      <vt:lpstr>Outside Perimeters</vt:lpstr>
      <vt:lpstr>Onion routing and TOR </vt:lpstr>
      <vt:lpstr>Cyber Attribution</vt:lpstr>
      <vt:lpstr>Critical Infrastructure Requirements &amp; Protection</vt:lpstr>
      <vt:lpstr>Mobility Security</vt:lpstr>
      <vt:lpstr>Enterprise Mobile Device Management (MDM)</vt:lpstr>
      <vt:lpstr>IMSI Catching</vt:lpstr>
      <vt:lpstr>IoT Security</vt:lpstr>
      <vt:lpstr>Using Deception &amp; Honeypots for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Macbook</dc:creator>
  <cp:lastModifiedBy>Macbook</cp:lastModifiedBy>
  <cp:revision>3</cp:revision>
  <dcterms:created xsi:type="dcterms:W3CDTF">2025-08-30T08:24:32Z</dcterms:created>
  <dcterms:modified xsi:type="dcterms:W3CDTF">2025-09-02T06:14:25Z</dcterms:modified>
</cp:coreProperties>
</file>